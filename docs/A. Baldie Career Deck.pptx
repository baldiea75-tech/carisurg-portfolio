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5"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4" d="100"/>
          <a:sy n="104" d="100"/>
        </p:scale>
        <p:origin x="-176" y="-4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BD6FBF27-F054-4DF4-B758-A4B2EE086577}" type="datetimeFigureOut">
              <a:rPr lang="en-JM" smtClean="0"/>
              <a:t>26/5/2026</a:t>
            </a:fld>
            <a:endParaRPr lang="en-JM"/>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JM"/>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E88E553F-A916-45DC-80EF-753A0D71E038}" type="slidenum">
              <a:rPr lang="en-JM" smtClean="0"/>
              <a:t>‹#›</a:t>
            </a:fld>
            <a:endParaRPr lang="en-JM"/>
          </a:p>
        </p:txBody>
      </p:sp>
    </p:spTree>
    <p:extLst>
      <p:ext uri="{BB962C8B-B14F-4D97-AF65-F5344CB8AC3E}">
        <p14:creationId xmlns:p14="http://schemas.microsoft.com/office/powerpoint/2010/main" val="2232032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C2185B"/>
          </a:solidFill>
          <a:ln w="12700">
            <a:solidFill>
              <a:srgbClr val="C2185B"/>
            </a:solidFill>
            <a:prstDash val="solid"/>
          </a:ln>
        </p:spPr>
      </p:sp>
      <p:pic>
        <p:nvPicPr>
          <p:cNvPr id="3" name="Image 0" descr="preencoded.png"/>
          <p:cNvPicPr>
            <a:picLocks noChangeAspect="1"/>
          </p:cNvPicPr>
          <p:nvPr/>
        </p:nvPicPr>
        <p:blipFill>
          <a:blip r:embed="rId3">
            <a:alphaModFix amt="18000"/>
          </a:blip>
          <a:stretch>
            <a:fillRect/>
          </a:stretch>
        </p:blipFill>
        <p:spPr>
          <a:xfrm>
            <a:off x="457200" y="2560320"/>
            <a:ext cx="2560320" cy="2560320"/>
          </a:xfrm>
          <a:prstGeom prst="rect">
            <a:avLst/>
          </a:prstGeom>
        </p:spPr>
      </p:pic>
      <p:sp>
        <p:nvSpPr>
          <p:cNvPr id="4" name="Text 1"/>
          <p:cNvSpPr/>
          <p:nvPr/>
        </p:nvSpPr>
        <p:spPr>
          <a:xfrm>
            <a:off x="274320" y="502920"/>
            <a:ext cx="3200400" cy="777240"/>
          </a:xfrm>
          <a:prstGeom prst="rect">
            <a:avLst/>
          </a:prstGeom>
          <a:noFill/>
          <a:ln/>
        </p:spPr>
        <p:txBody>
          <a:bodyPr wrap="square" lIns="0" tIns="0" rIns="0" bIns="0" rtlCol="0" anchor="ctr"/>
          <a:lstStyle/>
          <a:p>
            <a:pPr marL="0" indent="0">
              <a:buNone/>
            </a:pPr>
            <a:r>
              <a:rPr lang="en-US" sz="5200" b="1" dirty="0">
                <a:solidFill>
                  <a:srgbClr val="FFFFFF"/>
                </a:solidFill>
                <a:latin typeface="Times New Roman" pitchFamily="18" charset="0"/>
                <a:ea typeface="Calibri" pitchFamily="34" charset="-122"/>
                <a:cs typeface="Times New Roman" pitchFamily="18" charset="0"/>
              </a:rPr>
              <a:t>ASHI</a:t>
            </a:r>
            <a:endParaRPr lang="en-US" sz="5200" dirty="0">
              <a:latin typeface="Times New Roman" pitchFamily="18" charset="0"/>
              <a:cs typeface="Times New Roman" pitchFamily="18" charset="0"/>
            </a:endParaRPr>
          </a:p>
        </p:txBody>
      </p:sp>
      <p:sp>
        <p:nvSpPr>
          <p:cNvPr id="5" name="Text 2"/>
          <p:cNvSpPr/>
          <p:nvPr/>
        </p:nvSpPr>
        <p:spPr>
          <a:xfrm>
            <a:off x="274320" y="1234440"/>
            <a:ext cx="3200400" cy="777240"/>
          </a:xfrm>
          <a:prstGeom prst="rect">
            <a:avLst/>
          </a:prstGeom>
          <a:noFill/>
          <a:ln/>
        </p:spPr>
        <p:txBody>
          <a:bodyPr wrap="square" lIns="0" tIns="0" rIns="0" bIns="0" rtlCol="0" anchor="ctr"/>
          <a:lstStyle/>
          <a:p>
            <a:pPr marL="0" indent="0">
              <a:buNone/>
            </a:pPr>
            <a:r>
              <a:rPr lang="en-US" sz="5200" b="1" dirty="0">
                <a:solidFill>
                  <a:srgbClr val="FFFDE7"/>
                </a:solidFill>
                <a:latin typeface="Times New Roman" pitchFamily="18" charset="0"/>
                <a:ea typeface="Calibri" pitchFamily="34" charset="-122"/>
                <a:cs typeface="Times New Roman" pitchFamily="18" charset="0"/>
              </a:rPr>
              <a:t>BALDIE</a:t>
            </a:r>
            <a:endParaRPr lang="en-US" sz="5200" dirty="0">
              <a:latin typeface="Times New Roman" pitchFamily="18" charset="0"/>
              <a:cs typeface="Times New Roman" pitchFamily="18" charset="0"/>
            </a:endParaRPr>
          </a:p>
        </p:txBody>
      </p:sp>
      <p:sp>
        <p:nvSpPr>
          <p:cNvPr id="6" name="Shape 3"/>
          <p:cNvSpPr/>
          <p:nvPr/>
        </p:nvSpPr>
        <p:spPr>
          <a:xfrm>
            <a:off x="274320" y="2084832"/>
            <a:ext cx="2743200" cy="54864"/>
          </a:xfrm>
          <a:prstGeom prst="rect">
            <a:avLst/>
          </a:prstGeom>
          <a:solidFill>
            <a:srgbClr val="F9A825"/>
          </a:solidFill>
          <a:ln w="12700">
            <a:solidFill>
              <a:srgbClr val="F9A825"/>
            </a:solidFill>
            <a:prstDash val="solid"/>
          </a:ln>
        </p:spPr>
      </p:sp>
      <p:sp>
        <p:nvSpPr>
          <p:cNvPr id="7" name="Text 4"/>
          <p:cNvSpPr/>
          <p:nvPr/>
        </p:nvSpPr>
        <p:spPr>
          <a:xfrm>
            <a:off x="274320" y="2240280"/>
            <a:ext cx="3200400" cy="320040"/>
          </a:xfrm>
          <a:prstGeom prst="rect">
            <a:avLst/>
          </a:prstGeom>
          <a:noFill/>
          <a:ln/>
        </p:spPr>
        <p:txBody>
          <a:bodyPr wrap="square" lIns="0" tIns="0" rIns="0" bIns="0" rtlCol="0" anchor="ctr"/>
          <a:lstStyle/>
          <a:p>
            <a:pPr marL="0" indent="0">
              <a:buNone/>
            </a:pPr>
            <a:r>
              <a:rPr lang="en-US" sz="1400" dirty="0">
                <a:solidFill>
                  <a:srgbClr val="FCE4EC"/>
                </a:solidFill>
                <a:latin typeface="Times New Roman" pitchFamily="18" charset="0"/>
                <a:ea typeface="Calibri" pitchFamily="34" charset="-122"/>
                <a:cs typeface="Times New Roman" pitchFamily="18" charset="0"/>
              </a:rPr>
              <a:t>Medical Physics</a:t>
            </a:r>
            <a:endParaRPr lang="en-US" sz="1400" dirty="0">
              <a:latin typeface="Times New Roman" pitchFamily="18" charset="0"/>
              <a:cs typeface="Times New Roman" pitchFamily="18" charset="0"/>
            </a:endParaRPr>
          </a:p>
        </p:txBody>
      </p:sp>
      <p:sp>
        <p:nvSpPr>
          <p:cNvPr id="8" name="Text 5"/>
          <p:cNvSpPr/>
          <p:nvPr/>
        </p:nvSpPr>
        <p:spPr>
          <a:xfrm>
            <a:off x="274320" y="2542032"/>
            <a:ext cx="3200400" cy="320040"/>
          </a:xfrm>
          <a:prstGeom prst="rect">
            <a:avLst/>
          </a:prstGeom>
          <a:noFill/>
          <a:ln/>
        </p:spPr>
        <p:txBody>
          <a:bodyPr wrap="square" lIns="0" tIns="0" rIns="0" bIns="0" rtlCol="0" anchor="ctr"/>
          <a:lstStyle/>
          <a:p>
            <a:pPr marL="0" indent="0">
              <a:buNone/>
            </a:pPr>
            <a:r>
              <a:rPr lang="en-US" sz="1400" dirty="0">
                <a:solidFill>
                  <a:srgbClr val="FCE4EC"/>
                </a:solidFill>
                <a:latin typeface="Times New Roman" pitchFamily="18" charset="0"/>
                <a:ea typeface="Calibri" pitchFamily="34" charset="-122"/>
                <a:cs typeface="Times New Roman" pitchFamily="18" charset="0"/>
              </a:rPr>
              <a:t>Biomedical Engineering</a:t>
            </a:r>
            <a:endParaRPr lang="en-US" sz="1400" dirty="0">
              <a:latin typeface="Times New Roman" pitchFamily="18" charset="0"/>
              <a:cs typeface="Times New Roman" pitchFamily="18" charset="0"/>
            </a:endParaRPr>
          </a:p>
        </p:txBody>
      </p:sp>
      <p:sp>
        <p:nvSpPr>
          <p:cNvPr id="9" name="Text 6"/>
          <p:cNvSpPr/>
          <p:nvPr/>
        </p:nvSpPr>
        <p:spPr>
          <a:xfrm>
            <a:off x="4023360" y="731520"/>
            <a:ext cx="4754880" cy="1097280"/>
          </a:xfrm>
          <a:prstGeom prst="rect">
            <a:avLst/>
          </a:prstGeom>
          <a:noFill/>
          <a:ln/>
        </p:spPr>
        <p:txBody>
          <a:bodyPr wrap="square" lIns="0" tIns="0" rIns="0" bIns="0" rtlCol="0" anchor="ctr"/>
          <a:lstStyle/>
          <a:p>
            <a:pPr marL="0" indent="0">
              <a:buNone/>
            </a:pPr>
            <a:r>
              <a:rPr lang="en-US" sz="3600" b="1" dirty="0" smtClean="0">
                <a:solidFill>
                  <a:srgbClr val="4A148C"/>
                </a:solidFill>
                <a:latin typeface="Times New Roman" pitchFamily="18" charset="0"/>
                <a:cs typeface="Times New Roman" pitchFamily="18" charset="0"/>
              </a:rPr>
              <a:t>GET TO KNOW ME!</a:t>
            </a:r>
            <a:endParaRPr lang="en-US" sz="3600" dirty="0">
              <a:latin typeface="Times New Roman" pitchFamily="18" charset="0"/>
              <a:cs typeface="Times New Roman" pitchFamily="18" charset="0"/>
            </a:endParaRPr>
          </a:p>
        </p:txBody>
      </p:sp>
      <p:sp>
        <p:nvSpPr>
          <p:cNvPr id="10" name="Shape 7"/>
          <p:cNvSpPr/>
          <p:nvPr/>
        </p:nvSpPr>
        <p:spPr>
          <a:xfrm>
            <a:off x="4023360" y="1965960"/>
            <a:ext cx="4572000" cy="36576"/>
          </a:xfrm>
          <a:prstGeom prst="rect">
            <a:avLst/>
          </a:prstGeom>
          <a:solidFill>
            <a:srgbClr val="E91E8C"/>
          </a:solidFill>
          <a:ln w="12700">
            <a:solidFill>
              <a:srgbClr val="E91E8C"/>
            </a:solidFill>
            <a:prstDash val="solid"/>
          </a:ln>
        </p:spPr>
      </p:sp>
      <p:sp>
        <p:nvSpPr>
          <p:cNvPr id="11" name="Shape 8"/>
          <p:cNvSpPr/>
          <p:nvPr/>
        </p:nvSpPr>
        <p:spPr>
          <a:xfrm>
            <a:off x="4023360" y="2148840"/>
            <a:ext cx="4663440" cy="475488"/>
          </a:xfrm>
          <a:prstGeom prst="rect">
            <a:avLst/>
          </a:prstGeom>
          <a:solidFill>
            <a:srgbClr val="FFF0F5"/>
          </a:solidFill>
          <a:ln w="12700">
            <a:solidFill>
              <a:srgbClr val="FCE4EC"/>
            </a:solidFill>
            <a:prstDash val="solid"/>
          </a:ln>
        </p:spPr>
      </p:sp>
      <p:pic>
        <p:nvPicPr>
          <p:cNvPr id="12" name="Image 1" descr="preencoded.png"/>
          <p:cNvPicPr>
            <a:picLocks noChangeAspect="1"/>
          </p:cNvPicPr>
          <p:nvPr/>
        </p:nvPicPr>
        <p:blipFill>
          <a:blip r:embed="rId4"/>
          <a:stretch>
            <a:fillRect/>
          </a:stretch>
        </p:blipFill>
        <p:spPr>
          <a:xfrm>
            <a:off x="4187952" y="2249424"/>
            <a:ext cx="274320" cy="274320"/>
          </a:xfrm>
          <a:prstGeom prst="rect">
            <a:avLst/>
          </a:prstGeom>
        </p:spPr>
      </p:pic>
      <p:sp>
        <p:nvSpPr>
          <p:cNvPr id="13" name="Text 9"/>
          <p:cNvSpPr/>
          <p:nvPr/>
        </p:nvSpPr>
        <p:spPr>
          <a:xfrm>
            <a:off x="4572000" y="2249424"/>
            <a:ext cx="3931920" cy="274320"/>
          </a:xfrm>
          <a:prstGeom prst="rect">
            <a:avLst/>
          </a:prstGeom>
          <a:noFill/>
          <a:ln/>
        </p:spPr>
        <p:txBody>
          <a:bodyPr wrap="square" lIns="0" tIns="0" rIns="0" bIns="0" rtlCol="0" anchor="ctr"/>
          <a:lstStyle/>
          <a:p>
            <a:pPr marL="0" indent="0">
              <a:buNone/>
            </a:pPr>
            <a:r>
              <a:rPr lang="en-US" sz="1200" dirty="0">
                <a:solidFill>
                  <a:srgbClr val="4A148C"/>
                </a:solidFill>
                <a:latin typeface="Times New Roman" pitchFamily="18" charset="0"/>
                <a:ea typeface="Calibri" pitchFamily="34" charset="-122"/>
                <a:cs typeface="Times New Roman" pitchFamily="18" charset="0"/>
              </a:rPr>
              <a:t>Jamaica</a:t>
            </a:r>
            <a:r>
              <a:rPr lang="en-US" sz="1200" dirty="0">
                <a:solidFill>
                  <a:srgbClr val="4A148C"/>
                </a:solidFill>
                <a:latin typeface="Calibri" pitchFamily="34" charset="0"/>
                <a:ea typeface="Calibri" pitchFamily="34" charset="-122"/>
                <a:cs typeface="Calibri" pitchFamily="34" charset="-120"/>
              </a:rPr>
              <a:t>  </a:t>
            </a:r>
            <a:endParaRPr lang="en-US" sz="1200" dirty="0"/>
          </a:p>
        </p:txBody>
      </p:sp>
      <p:sp>
        <p:nvSpPr>
          <p:cNvPr id="14" name="Shape 10"/>
          <p:cNvSpPr/>
          <p:nvPr/>
        </p:nvSpPr>
        <p:spPr>
          <a:xfrm>
            <a:off x="4023360" y="2807208"/>
            <a:ext cx="4663440" cy="475488"/>
          </a:xfrm>
          <a:prstGeom prst="rect">
            <a:avLst/>
          </a:prstGeom>
          <a:solidFill>
            <a:srgbClr val="FFF0F5"/>
          </a:solidFill>
          <a:ln w="12700">
            <a:solidFill>
              <a:srgbClr val="FCE4EC"/>
            </a:solidFill>
            <a:prstDash val="solid"/>
          </a:ln>
        </p:spPr>
      </p:sp>
      <p:pic>
        <p:nvPicPr>
          <p:cNvPr id="15" name="Image 2" descr="preencoded.png"/>
          <p:cNvPicPr>
            <a:picLocks noChangeAspect="1"/>
          </p:cNvPicPr>
          <p:nvPr/>
        </p:nvPicPr>
        <p:blipFill>
          <a:blip r:embed="rId5"/>
          <a:stretch>
            <a:fillRect/>
          </a:stretch>
        </p:blipFill>
        <p:spPr>
          <a:xfrm>
            <a:off x="4187952" y="2907792"/>
            <a:ext cx="274320" cy="274320"/>
          </a:xfrm>
          <a:prstGeom prst="rect">
            <a:avLst/>
          </a:prstGeom>
        </p:spPr>
      </p:pic>
      <p:sp>
        <p:nvSpPr>
          <p:cNvPr id="16" name="Text 11"/>
          <p:cNvSpPr/>
          <p:nvPr/>
        </p:nvSpPr>
        <p:spPr>
          <a:xfrm>
            <a:off x="4572000" y="2907792"/>
            <a:ext cx="3931920" cy="274320"/>
          </a:xfrm>
          <a:prstGeom prst="rect">
            <a:avLst/>
          </a:prstGeom>
          <a:noFill/>
          <a:ln/>
        </p:spPr>
        <p:txBody>
          <a:bodyPr wrap="square" lIns="0" tIns="0" rIns="0" bIns="0" rtlCol="0" anchor="ctr"/>
          <a:lstStyle/>
          <a:p>
            <a:pPr marL="0" indent="0">
              <a:buNone/>
            </a:pPr>
            <a:r>
              <a:rPr lang="en-US" sz="1200" dirty="0">
                <a:solidFill>
                  <a:srgbClr val="4A148C"/>
                </a:solidFill>
                <a:latin typeface="Times New Roman" pitchFamily="18" charset="0"/>
                <a:ea typeface="Calibri" pitchFamily="34" charset="-122"/>
                <a:cs typeface="Times New Roman" pitchFamily="18" charset="0"/>
              </a:rPr>
              <a:t>BSc Medical Physics, UWI</a:t>
            </a:r>
            <a:endParaRPr lang="en-US" sz="1200" dirty="0">
              <a:latin typeface="Times New Roman" pitchFamily="18" charset="0"/>
              <a:cs typeface="Times New Roman" pitchFamily="18" charset="0"/>
            </a:endParaRPr>
          </a:p>
        </p:txBody>
      </p:sp>
      <p:sp>
        <p:nvSpPr>
          <p:cNvPr id="17" name="Shape 12"/>
          <p:cNvSpPr/>
          <p:nvPr/>
        </p:nvSpPr>
        <p:spPr>
          <a:xfrm>
            <a:off x="4023360" y="3465576"/>
            <a:ext cx="4663440" cy="475488"/>
          </a:xfrm>
          <a:prstGeom prst="rect">
            <a:avLst/>
          </a:prstGeom>
          <a:solidFill>
            <a:srgbClr val="FFF0F5"/>
          </a:solidFill>
          <a:ln w="12700">
            <a:solidFill>
              <a:srgbClr val="FCE4EC"/>
            </a:solidFill>
            <a:prstDash val="solid"/>
          </a:ln>
        </p:spPr>
      </p:sp>
      <p:pic>
        <p:nvPicPr>
          <p:cNvPr id="18" name="Image 3" descr="preencoded.png"/>
          <p:cNvPicPr>
            <a:picLocks noChangeAspect="1"/>
          </p:cNvPicPr>
          <p:nvPr/>
        </p:nvPicPr>
        <p:blipFill>
          <a:blip r:embed="rId6"/>
          <a:stretch>
            <a:fillRect/>
          </a:stretch>
        </p:blipFill>
        <p:spPr>
          <a:xfrm>
            <a:off x="4187952" y="3566160"/>
            <a:ext cx="274320" cy="274320"/>
          </a:xfrm>
          <a:prstGeom prst="rect">
            <a:avLst/>
          </a:prstGeom>
        </p:spPr>
      </p:pic>
      <p:sp>
        <p:nvSpPr>
          <p:cNvPr id="19" name="Text 13"/>
          <p:cNvSpPr/>
          <p:nvPr/>
        </p:nvSpPr>
        <p:spPr>
          <a:xfrm>
            <a:off x="4572000" y="3566160"/>
            <a:ext cx="3931920" cy="274320"/>
          </a:xfrm>
          <a:prstGeom prst="rect">
            <a:avLst/>
          </a:prstGeom>
          <a:noFill/>
          <a:ln/>
        </p:spPr>
        <p:txBody>
          <a:bodyPr wrap="square" lIns="0" tIns="0" rIns="0" bIns="0" rtlCol="0" anchor="ctr"/>
          <a:lstStyle/>
          <a:p>
            <a:pPr marL="0" indent="0">
              <a:buNone/>
            </a:pPr>
            <a:r>
              <a:rPr lang="en-US" sz="1200" dirty="0">
                <a:solidFill>
                  <a:srgbClr val="4A148C"/>
                </a:solidFill>
                <a:latin typeface="Times New Roman" pitchFamily="18" charset="0"/>
                <a:ea typeface="Calibri" pitchFamily="34" charset="-122"/>
                <a:cs typeface="Times New Roman" pitchFamily="18" charset="0"/>
              </a:rPr>
              <a:t>CariSurg MedTech Pathways 2026</a:t>
            </a:r>
            <a:endParaRPr lang="en-US" sz="1200" dirty="0">
              <a:latin typeface="Times New Roman" pitchFamily="18" charset="0"/>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1FA2"/>
          </a:solidFill>
          <a:ln w="12700">
            <a:solidFill>
              <a:srgbClr val="7B1FA2"/>
            </a:solidFill>
            <a:prstDash val="solid"/>
          </a:ln>
        </p:spPr>
      </p:sp>
      <p:pic>
        <p:nvPicPr>
          <p:cNvPr id="3" name="Image 0" descr="preencoded.png"/>
          <p:cNvPicPr>
            <a:picLocks noChangeAspect="1"/>
          </p:cNvPicPr>
          <p:nvPr/>
        </p:nvPicPr>
        <p:blipFill>
          <a:blip r:embed="rId3"/>
          <a:stretch>
            <a:fillRect/>
          </a:stretch>
        </p:blipFill>
        <p:spPr>
          <a:xfrm>
            <a:off x="320040" y="246888"/>
            <a:ext cx="457200" cy="457200"/>
          </a:xfrm>
          <a:prstGeom prst="rect">
            <a:avLst/>
          </a:prstGeom>
        </p:spPr>
      </p:pic>
      <p:sp>
        <p:nvSpPr>
          <p:cNvPr id="4" name="Text 1"/>
          <p:cNvSpPr/>
          <p:nvPr/>
        </p:nvSpPr>
        <p:spPr>
          <a:xfrm>
            <a:off x="170688" y="246888"/>
            <a:ext cx="7772400" cy="502920"/>
          </a:xfrm>
          <a:prstGeom prst="rect">
            <a:avLst/>
          </a:prstGeom>
          <a:noFill/>
          <a:ln/>
        </p:spPr>
        <p:txBody>
          <a:bodyPr wrap="square" lIns="0" tIns="0" rIns="0" bIns="0" rtlCol="0" anchor="ctr"/>
          <a:lstStyle/>
          <a:p>
            <a:pPr marL="0" indent="0">
              <a:buNone/>
            </a:pPr>
            <a:r>
              <a:rPr lang="en-US" sz="2400" b="1" kern="0" spc="200" dirty="0">
                <a:solidFill>
                  <a:srgbClr val="FFFFFF"/>
                </a:solidFill>
                <a:latin typeface="Times New Roman" pitchFamily="18" charset="0"/>
                <a:ea typeface="Calibri" pitchFamily="34" charset="-122"/>
                <a:cs typeface="Times New Roman" pitchFamily="18" charset="0"/>
              </a:rPr>
              <a:t>ABOUT ME</a:t>
            </a:r>
            <a:endParaRPr lang="en-US" sz="2400" dirty="0">
              <a:latin typeface="Times New Roman" pitchFamily="18" charset="0"/>
              <a:cs typeface="Times New Roman" pitchFamily="18" charset="0"/>
            </a:endParaRPr>
          </a:p>
        </p:txBody>
      </p:sp>
      <p:sp>
        <p:nvSpPr>
          <p:cNvPr id="7" name="Text 3"/>
          <p:cNvSpPr/>
          <p:nvPr/>
        </p:nvSpPr>
        <p:spPr>
          <a:xfrm>
            <a:off x="960120" y="1170432"/>
            <a:ext cx="1828800" cy="384048"/>
          </a:xfrm>
          <a:prstGeom prst="rect">
            <a:avLst/>
          </a:prstGeom>
          <a:noFill/>
          <a:ln/>
        </p:spPr>
        <p:txBody>
          <a:bodyPr wrap="square" lIns="0" tIns="0" rIns="0" bIns="0" rtlCol="0" anchor="ctr"/>
          <a:lstStyle/>
          <a:p>
            <a:pPr marL="0" indent="0">
              <a:buNone/>
            </a:pPr>
            <a:endParaRPr lang="en-US" sz="2200" dirty="0"/>
          </a:p>
        </p:txBody>
      </p:sp>
      <p:sp>
        <p:nvSpPr>
          <p:cNvPr id="8" name="Text 4"/>
          <p:cNvSpPr/>
          <p:nvPr/>
        </p:nvSpPr>
        <p:spPr>
          <a:xfrm>
            <a:off x="960120" y="1527048"/>
            <a:ext cx="1920240" cy="274320"/>
          </a:xfrm>
          <a:prstGeom prst="rect">
            <a:avLst/>
          </a:prstGeom>
          <a:noFill/>
          <a:ln/>
        </p:spPr>
        <p:txBody>
          <a:bodyPr wrap="square" lIns="0" tIns="0" rIns="0" bIns="0" rtlCol="0" anchor="ctr"/>
          <a:lstStyle/>
          <a:p>
            <a:pPr marL="0" indent="0">
              <a:buNone/>
            </a:pPr>
            <a:endParaRPr lang="en-US" sz="1000" dirty="0"/>
          </a:p>
        </p:txBody>
      </p:sp>
      <p:sp>
        <p:nvSpPr>
          <p:cNvPr id="11" name="Text 6"/>
          <p:cNvSpPr/>
          <p:nvPr/>
        </p:nvSpPr>
        <p:spPr>
          <a:xfrm>
            <a:off x="3794760" y="1170432"/>
            <a:ext cx="1828800" cy="384048"/>
          </a:xfrm>
          <a:prstGeom prst="rect">
            <a:avLst/>
          </a:prstGeom>
          <a:noFill/>
          <a:ln/>
        </p:spPr>
        <p:txBody>
          <a:bodyPr wrap="square" lIns="0" tIns="0" rIns="0" bIns="0" rtlCol="0" anchor="ctr"/>
          <a:lstStyle/>
          <a:p>
            <a:pPr marL="0" indent="0">
              <a:buNone/>
            </a:pPr>
            <a:endParaRPr lang="en-US" sz="2200" dirty="0"/>
          </a:p>
        </p:txBody>
      </p:sp>
      <p:sp>
        <p:nvSpPr>
          <p:cNvPr id="12" name="Text 7"/>
          <p:cNvSpPr/>
          <p:nvPr/>
        </p:nvSpPr>
        <p:spPr>
          <a:xfrm>
            <a:off x="3794760" y="1527048"/>
            <a:ext cx="1920240" cy="274320"/>
          </a:xfrm>
          <a:prstGeom prst="rect">
            <a:avLst/>
          </a:prstGeom>
          <a:noFill/>
          <a:ln/>
        </p:spPr>
        <p:txBody>
          <a:bodyPr wrap="square" lIns="0" tIns="0" rIns="0" bIns="0" rtlCol="0" anchor="ctr"/>
          <a:lstStyle/>
          <a:p>
            <a:pPr marL="0" indent="0">
              <a:buNone/>
            </a:pPr>
            <a:endParaRPr lang="en-US" sz="1000" dirty="0"/>
          </a:p>
        </p:txBody>
      </p:sp>
      <p:sp>
        <p:nvSpPr>
          <p:cNvPr id="15" name="Text 9"/>
          <p:cNvSpPr/>
          <p:nvPr/>
        </p:nvSpPr>
        <p:spPr>
          <a:xfrm>
            <a:off x="6629400" y="1170432"/>
            <a:ext cx="1828800" cy="384048"/>
          </a:xfrm>
          <a:prstGeom prst="rect">
            <a:avLst/>
          </a:prstGeom>
          <a:noFill/>
          <a:ln/>
        </p:spPr>
        <p:txBody>
          <a:bodyPr wrap="square" lIns="0" tIns="0" rIns="0" bIns="0" rtlCol="0" anchor="ctr"/>
          <a:lstStyle/>
          <a:p>
            <a:pPr marL="0" indent="0">
              <a:buNone/>
            </a:pPr>
            <a:endParaRPr lang="en-US" sz="2200" dirty="0"/>
          </a:p>
        </p:txBody>
      </p:sp>
      <p:sp>
        <p:nvSpPr>
          <p:cNvPr id="16" name="Text 10"/>
          <p:cNvSpPr/>
          <p:nvPr/>
        </p:nvSpPr>
        <p:spPr>
          <a:xfrm>
            <a:off x="6629400" y="1527048"/>
            <a:ext cx="1920240" cy="274320"/>
          </a:xfrm>
          <a:prstGeom prst="rect">
            <a:avLst/>
          </a:prstGeom>
          <a:noFill/>
          <a:ln/>
        </p:spPr>
        <p:txBody>
          <a:bodyPr wrap="square" lIns="0" tIns="0" rIns="0" bIns="0" rtlCol="0" anchor="ctr"/>
          <a:lstStyle/>
          <a:p>
            <a:pPr marL="0" indent="0">
              <a:buNone/>
            </a:pPr>
            <a:endParaRPr lang="en-US" sz="1000" dirty="0"/>
          </a:p>
        </p:txBody>
      </p:sp>
      <p:sp>
        <p:nvSpPr>
          <p:cNvPr id="17" name="Shape 11"/>
          <p:cNvSpPr/>
          <p:nvPr/>
        </p:nvSpPr>
        <p:spPr>
          <a:xfrm>
            <a:off x="365760" y="1226820"/>
            <a:ext cx="8412480" cy="3425952"/>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9" name="Text 13"/>
          <p:cNvSpPr/>
          <p:nvPr/>
        </p:nvSpPr>
        <p:spPr>
          <a:xfrm>
            <a:off x="548640" y="1316736"/>
            <a:ext cx="7955280" cy="347472"/>
          </a:xfrm>
          <a:prstGeom prst="rect">
            <a:avLst/>
          </a:prstGeom>
          <a:noFill/>
          <a:ln/>
        </p:spPr>
        <p:txBody>
          <a:bodyPr wrap="square" lIns="0" tIns="0" rIns="0" bIns="0" rtlCol="0" anchor="ctr"/>
          <a:lstStyle/>
          <a:p>
            <a:pPr marL="0" indent="0">
              <a:buNone/>
            </a:pPr>
            <a:r>
              <a:rPr lang="en-US" sz="1600" b="1" dirty="0">
                <a:solidFill>
                  <a:srgbClr val="4A148C"/>
                </a:solidFill>
                <a:latin typeface="Times New Roman" pitchFamily="18" charset="0"/>
                <a:ea typeface="Calibri" pitchFamily="34" charset="-122"/>
                <a:cs typeface="Times New Roman" pitchFamily="18" charset="0"/>
              </a:rPr>
              <a:t>Who I am</a:t>
            </a:r>
            <a:endParaRPr lang="en-US" sz="1600" dirty="0">
              <a:latin typeface="Times New Roman" pitchFamily="18" charset="0"/>
              <a:cs typeface="Times New Roman" pitchFamily="18" charset="0"/>
            </a:endParaRPr>
          </a:p>
        </p:txBody>
      </p:sp>
      <p:sp>
        <p:nvSpPr>
          <p:cNvPr id="20" name="Text 14"/>
          <p:cNvSpPr/>
          <p:nvPr/>
        </p:nvSpPr>
        <p:spPr>
          <a:xfrm>
            <a:off x="524256" y="1734312"/>
            <a:ext cx="7955280" cy="2057400"/>
          </a:xfrm>
          <a:prstGeom prst="rect">
            <a:avLst/>
          </a:prstGeom>
          <a:noFill/>
          <a:ln/>
        </p:spPr>
        <p:txBody>
          <a:bodyPr wrap="square" lIns="0" tIns="0" rIns="0" bIns="0" rtlCol="0" anchor="t"/>
          <a:lstStyle/>
          <a:p>
            <a:pPr marL="0" indent="0" algn="l">
              <a:buNone/>
            </a:pPr>
            <a:r>
              <a:rPr lang="en-US" sz="1200" dirty="0">
                <a:solidFill>
                  <a:srgbClr val="212121"/>
                </a:solidFill>
                <a:latin typeface="Times New Roman" pitchFamily="18" charset="0"/>
                <a:ea typeface="Calibri" pitchFamily="34" charset="-122"/>
                <a:cs typeface="Times New Roman" pitchFamily="18" charset="0"/>
              </a:rPr>
              <a:t>I am a Medical Physics undergraduate from Jamaica completing my BSc at the University of the West Indies. My interest in the field became real during an internship at the International Centre for Environmental and Nuclear Sciences (ICENS), where I worked with thermoluminescent dosimeters supporting national radiation monitoring programmes.</a:t>
            </a:r>
            <a:endParaRPr lang="en-US" sz="1200" dirty="0">
              <a:latin typeface="Times New Roman" pitchFamily="18" charset="0"/>
              <a:cs typeface="Times New Roman" pitchFamily="18" charset="0"/>
            </a:endParaRPr>
          </a:p>
          <a:p>
            <a:pPr marL="0" indent="0" algn="l">
              <a:buNone/>
            </a:pPr>
            <a:endParaRPr lang="en-US" sz="1200" dirty="0">
              <a:latin typeface="Times New Roman" pitchFamily="18" charset="0"/>
              <a:cs typeface="Times New Roman" pitchFamily="18" charset="0"/>
            </a:endParaRPr>
          </a:p>
          <a:p>
            <a:pPr marL="0" indent="0" algn="l">
              <a:buNone/>
            </a:pPr>
            <a:r>
              <a:rPr lang="en-US" sz="1200" dirty="0">
                <a:solidFill>
                  <a:srgbClr val="212121"/>
                </a:solidFill>
                <a:latin typeface="Times New Roman" pitchFamily="18" charset="0"/>
                <a:ea typeface="Calibri" pitchFamily="34" charset="-122"/>
                <a:cs typeface="Times New Roman" pitchFamily="18" charset="0"/>
              </a:rPr>
              <a:t>I am drawn to the intersection of nuclear medicine and radiation oncology. Specifically, I want to explore how radiotracer uptake data from bone scans can be used as a quantitative indicator of treatment response in breast cancer patients, going beyond the current visual interpretation of bone scans.</a:t>
            </a:r>
            <a:endParaRPr lang="en-US" sz="1200" dirty="0">
              <a:latin typeface="Times New Roman" pitchFamily="18" charset="0"/>
              <a:cs typeface="Times New Roman" pitchFamily="18" charset="0"/>
            </a:endParaRPr>
          </a:p>
          <a:p>
            <a:pPr marL="0" indent="0" algn="l">
              <a:buNone/>
            </a:pPr>
            <a:endParaRPr lang="en-US" sz="1200" dirty="0">
              <a:latin typeface="Times New Roman" pitchFamily="18" charset="0"/>
              <a:cs typeface="Times New Roman" pitchFamily="18" charset="0"/>
            </a:endParaRPr>
          </a:p>
          <a:p>
            <a:pPr marL="0" indent="0" algn="l">
              <a:buNone/>
            </a:pPr>
            <a:r>
              <a:rPr lang="en-US" sz="1200" dirty="0">
                <a:solidFill>
                  <a:srgbClr val="212121"/>
                </a:solidFill>
                <a:latin typeface="Times New Roman" pitchFamily="18" charset="0"/>
                <a:ea typeface="Calibri" pitchFamily="34" charset="-122"/>
                <a:cs typeface="Times New Roman" pitchFamily="18" charset="0"/>
              </a:rPr>
              <a:t>I am pursuing graduate training in biomedical engineering to build the clinical and technical expertise needed to contribute to medical physics in the Caribbean, where specialised capacity is </a:t>
            </a:r>
            <a:r>
              <a:rPr lang="en-US" sz="1200" dirty="0" smtClean="0">
                <a:solidFill>
                  <a:srgbClr val="212121"/>
                </a:solidFill>
                <a:latin typeface="Times New Roman" pitchFamily="18" charset="0"/>
                <a:ea typeface="Calibri" pitchFamily="34" charset="-122"/>
                <a:cs typeface="Times New Roman" pitchFamily="18" charset="0"/>
              </a:rPr>
              <a:t>limited</a:t>
            </a:r>
          </a:p>
          <a:p>
            <a:pPr marL="0" indent="0" algn="l">
              <a:buNone/>
            </a:pPr>
            <a:endParaRPr lang="en-US" sz="1200" dirty="0">
              <a:solidFill>
                <a:srgbClr val="212121"/>
              </a:solidFill>
              <a:latin typeface="Times New Roman" pitchFamily="18" charset="0"/>
              <a:cs typeface="Times New Roman" pitchFamily="18" charset="0"/>
            </a:endParaRPr>
          </a:p>
          <a:p>
            <a:r>
              <a:rPr lang="en-US" sz="1200" dirty="0">
                <a:latin typeface="Times New Roman" pitchFamily="18" charset="0"/>
                <a:cs typeface="Times New Roman" pitchFamily="18" charset="0"/>
              </a:rPr>
              <a:t>I'm a mix of an outgoing adventurer and a total homebody. I love hitting the road to track down hidden gem food spots across the island, but I'm just as happy recharging at home with my dog Curry, who I named after my absolute favorite food. When </a:t>
            </a:r>
            <a:r>
              <a:rPr lang="en-US" sz="1200" dirty="0" smtClean="0">
                <a:latin typeface="Times New Roman" pitchFamily="18" charset="0"/>
                <a:cs typeface="Times New Roman" pitchFamily="18" charset="0"/>
              </a:rPr>
              <a:t>I’m </a:t>
            </a:r>
            <a:r>
              <a:rPr lang="en-US" sz="1200" dirty="0">
                <a:latin typeface="Times New Roman" pitchFamily="18" charset="0"/>
                <a:cs typeface="Times New Roman" pitchFamily="18" charset="0"/>
              </a:rPr>
              <a:t>just chilling, you can usually find me catching up on a </a:t>
            </a:r>
            <a:r>
              <a:rPr lang="en-US" sz="1200" dirty="0" smtClean="0">
                <a:latin typeface="Times New Roman" pitchFamily="18" charset="0"/>
                <a:cs typeface="Times New Roman" pitchFamily="18" charset="0"/>
              </a:rPr>
              <a:t>manga </a:t>
            </a:r>
            <a:r>
              <a:rPr lang="en-US" sz="1200" dirty="0">
                <a:latin typeface="Times New Roman" pitchFamily="18" charset="0"/>
                <a:cs typeface="Times New Roman" pitchFamily="18" charset="0"/>
              </a:rPr>
              <a:t>or whatever anime </a:t>
            </a:r>
            <a:r>
              <a:rPr lang="en-US" sz="1200" dirty="0" smtClean="0">
                <a:latin typeface="Times New Roman" pitchFamily="18" charset="0"/>
                <a:cs typeface="Times New Roman" pitchFamily="18" charset="0"/>
              </a:rPr>
              <a:t>that’s </a:t>
            </a:r>
            <a:r>
              <a:rPr lang="en-US" sz="1200" dirty="0">
                <a:latin typeface="Times New Roman" pitchFamily="18" charset="0"/>
                <a:cs typeface="Times New Roman" pitchFamily="18" charset="0"/>
              </a:rPr>
              <a:t>on my </a:t>
            </a:r>
            <a:r>
              <a:rPr lang="en-US" sz="1200" dirty="0" err="1">
                <a:latin typeface="Times New Roman" pitchFamily="18" charset="0"/>
                <a:cs typeface="Times New Roman" pitchFamily="18" charset="0"/>
              </a:rPr>
              <a:t>watchlist</a:t>
            </a:r>
            <a:r>
              <a:rPr lang="en-US" sz="1200" dirty="0">
                <a:latin typeface="Times New Roman" pitchFamily="18" charset="0"/>
                <a:cs typeface="Times New Roman" pitchFamily="18" charset="0"/>
              </a:rPr>
              <a:t>.</a:t>
            </a:r>
            <a:endParaRPr lang="en-US" sz="12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2185B"/>
          </a:solidFill>
          <a:ln w="12700">
            <a:solidFill>
              <a:srgbClr val="C2185B"/>
            </a:solidFill>
            <a:prstDash val="solid"/>
          </a:ln>
        </p:spPr>
      </p:sp>
      <p:sp>
        <p:nvSpPr>
          <p:cNvPr id="4" name="Text 1"/>
          <p:cNvSpPr/>
          <p:nvPr/>
        </p:nvSpPr>
        <p:spPr>
          <a:xfrm>
            <a:off x="146304" y="228600"/>
            <a:ext cx="7772400" cy="502920"/>
          </a:xfrm>
          <a:prstGeom prst="rect">
            <a:avLst/>
          </a:prstGeom>
          <a:noFill/>
          <a:ln/>
        </p:spPr>
        <p:txBody>
          <a:bodyPr wrap="square" lIns="0" tIns="0" rIns="0" bIns="0" rtlCol="0" anchor="ctr"/>
          <a:lstStyle/>
          <a:p>
            <a:pPr marL="0" indent="0">
              <a:buNone/>
            </a:pPr>
            <a:r>
              <a:rPr lang="en-US" sz="2400" b="1" kern="0" spc="200" dirty="0">
                <a:solidFill>
                  <a:srgbClr val="FFFFFF"/>
                </a:solidFill>
                <a:latin typeface="Times New Roman" pitchFamily="18" charset="0"/>
                <a:ea typeface="Calibri" pitchFamily="34" charset="-122"/>
                <a:cs typeface="Times New Roman" pitchFamily="18" charset="0"/>
              </a:rPr>
              <a:t>EDUCATION</a:t>
            </a:r>
            <a:endParaRPr lang="en-US" sz="2400" dirty="0">
              <a:latin typeface="Times New Roman" pitchFamily="18" charset="0"/>
              <a:cs typeface="Times New Roman" pitchFamily="18" charset="0"/>
            </a:endParaRPr>
          </a:p>
        </p:txBody>
      </p:sp>
      <p:sp>
        <p:nvSpPr>
          <p:cNvPr id="5" name="Shape 2"/>
          <p:cNvSpPr/>
          <p:nvPr/>
        </p:nvSpPr>
        <p:spPr>
          <a:xfrm>
            <a:off x="365760" y="1143000"/>
            <a:ext cx="3931920" cy="365760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6" name="Shape 3"/>
          <p:cNvSpPr/>
          <p:nvPr/>
        </p:nvSpPr>
        <p:spPr>
          <a:xfrm>
            <a:off x="365760" y="1143000"/>
            <a:ext cx="3931920" cy="54864"/>
          </a:xfrm>
          <a:prstGeom prst="rect">
            <a:avLst/>
          </a:prstGeom>
          <a:solidFill>
            <a:srgbClr val="E91E8C"/>
          </a:solidFill>
          <a:ln w="12700">
            <a:solidFill>
              <a:srgbClr val="E91E8C"/>
            </a:solidFill>
            <a:prstDash val="solid"/>
          </a:ln>
        </p:spPr>
      </p:sp>
      <p:sp>
        <p:nvSpPr>
          <p:cNvPr id="7" name="Text 4"/>
          <p:cNvSpPr/>
          <p:nvPr/>
        </p:nvSpPr>
        <p:spPr>
          <a:xfrm>
            <a:off x="502920" y="1325880"/>
            <a:ext cx="3657600" cy="347472"/>
          </a:xfrm>
          <a:prstGeom prst="rect">
            <a:avLst/>
          </a:prstGeom>
          <a:noFill/>
          <a:ln/>
        </p:spPr>
        <p:txBody>
          <a:bodyPr wrap="square" lIns="0" tIns="0" rIns="0" bIns="0" rtlCol="0" anchor="ctr"/>
          <a:lstStyle/>
          <a:p>
            <a:pPr marL="0" indent="0">
              <a:buNone/>
            </a:pPr>
            <a:r>
              <a:rPr lang="en-US" sz="1300" b="1" dirty="0">
                <a:solidFill>
                  <a:srgbClr val="C2185B"/>
                </a:solidFill>
                <a:latin typeface="Times New Roman" pitchFamily="18" charset="0"/>
                <a:ea typeface="Calibri" pitchFamily="34" charset="-122"/>
                <a:cs typeface="Times New Roman" pitchFamily="18" charset="0"/>
              </a:rPr>
              <a:t>University of the West Indies</a:t>
            </a:r>
            <a:endParaRPr lang="en-US" sz="1300" dirty="0">
              <a:latin typeface="Times New Roman" pitchFamily="18" charset="0"/>
              <a:cs typeface="Times New Roman" pitchFamily="18" charset="0"/>
            </a:endParaRPr>
          </a:p>
        </p:txBody>
      </p:sp>
      <p:sp>
        <p:nvSpPr>
          <p:cNvPr id="8" name="Text 5"/>
          <p:cNvSpPr/>
          <p:nvPr/>
        </p:nvSpPr>
        <p:spPr>
          <a:xfrm>
            <a:off x="502920" y="1673352"/>
            <a:ext cx="3657600" cy="256032"/>
          </a:xfrm>
          <a:prstGeom prst="rect">
            <a:avLst/>
          </a:prstGeom>
          <a:noFill/>
          <a:ln/>
        </p:spPr>
        <p:txBody>
          <a:bodyPr wrap="square" lIns="0" tIns="0" rIns="0" bIns="0" rtlCol="0" anchor="ctr"/>
          <a:lstStyle/>
          <a:p>
            <a:pPr marL="0" indent="0">
              <a:buNone/>
            </a:pPr>
            <a:r>
              <a:rPr lang="en-US" sz="1100" i="1" dirty="0">
                <a:solidFill>
                  <a:srgbClr val="7B1FA2"/>
                </a:solidFill>
                <a:latin typeface="Times New Roman" pitchFamily="18" charset="0"/>
                <a:ea typeface="Calibri" pitchFamily="34" charset="-122"/>
                <a:cs typeface="Times New Roman" pitchFamily="18" charset="0"/>
              </a:rPr>
              <a:t>Mona, Jamaica</a:t>
            </a:r>
            <a:endParaRPr lang="en-US" sz="1100" dirty="0">
              <a:latin typeface="Times New Roman" pitchFamily="18" charset="0"/>
              <a:cs typeface="Times New Roman" pitchFamily="18" charset="0"/>
            </a:endParaRPr>
          </a:p>
        </p:txBody>
      </p:sp>
      <p:sp>
        <p:nvSpPr>
          <p:cNvPr id="9" name="Shape 6"/>
          <p:cNvSpPr/>
          <p:nvPr/>
        </p:nvSpPr>
        <p:spPr>
          <a:xfrm>
            <a:off x="502920" y="1965960"/>
            <a:ext cx="3474720" cy="27432"/>
          </a:xfrm>
          <a:prstGeom prst="rect">
            <a:avLst/>
          </a:prstGeom>
          <a:solidFill>
            <a:srgbClr val="F3E5F5"/>
          </a:solidFill>
          <a:ln w="12700">
            <a:solidFill>
              <a:srgbClr val="F3E5F5"/>
            </a:solidFill>
            <a:prstDash val="solid"/>
          </a:ln>
        </p:spPr>
      </p:sp>
      <p:sp>
        <p:nvSpPr>
          <p:cNvPr id="10" name="Text 7"/>
          <p:cNvSpPr/>
          <p:nvPr/>
        </p:nvSpPr>
        <p:spPr>
          <a:xfrm>
            <a:off x="502920" y="2084832"/>
            <a:ext cx="3657600" cy="2560320"/>
          </a:xfrm>
          <a:prstGeom prst="rect">
            <a:avLst/>
          </a:prstGeom>
          <a:noFill/>
          <a:ln/>
        </p:spPr>
        <p:txBody>
          <a:bodyPr wrap="square" lIns="0" tIns="0" rIns="0" bIns="0" rtlCol="0" anchor="ctr"/>
          <a:lstStyle/>
          <a:p>
            <a:pPr marL="342900" indent="-342900">
              <a:buSzPct val="100000"/>
              <a:buChar char="•"/>
            </a:pPr>
            <a:endParaRPr lang="en-US" sz="1100" dirty="0"/>
          </a:p>
        </p:txBody>
      </p:sp>
      <p:sp>
        <p:nvSpPr>
          <p:cNvPr id="11" name="Shape 8"/>
          <p:cNvSpPr/>
          <p:nvPr/>
        </p:nvSpPr>
        <p:spPr>
          <a:xfrm>
            <a:off x="4846320" y="1143000"/>
            <a:ext cx="3931920" cy="365760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2" name="Shape 9"/>
          <p:cNvSpPr/>
          <p:nvPr/>
        </p:nvSpPr>
        <p:spPr>
          <a:xfrm>
            <a:off x="4846320" y="1143000"/>
            <a:ext cx="3931920" cy="54864"/>
          </a:xfrm>
          <a:prstGeom prst="rect">
            <a:avLst/>
          </a:prstGeom>
          <a:solidFill>
            <a:srgbClr val="4A148C"/>
          </a:solidFill>
          <a:ln w="12700">
            <a:solidFill>
              <a:srgbClr val="4A148C"/>
            </a:solidFill>
            <a:prstDash val="solid"/>
          </a:ln>
        </p:spPr>
      </p:sp>
      <p:sp>
        <p:nvSpPr>
          <p:cNvPr id="13" name="Text 10"/>
          <p:cNvSpPr/>
          <p:nvPr/>
        </p:nvSpPr>
        <p:spPr>
          <a:xfrm>
            <a:off x="4983480" y="1325880"/>
            <a:ext cx="3657600" cy="347472"/>
          </a:xfrm>
          <a:prstGeom prst="rect">
            <a:avLst/>
          </a:prstGeom>
          <a:noFill/>
          <a:ln/>
        </p:spPr>
        <p:txBody>
          <a:bodyPr wrap="square" lIns="0" tIns="0" rIns="0" bIns="0" rtlCol="0" anchor="ctr"/>
          <a:lstStyle/>
          <a:p>
            <a:pPr marL="0" indent="0">
              <a:buNone/>
            </a:pPr>
            <a:r>
              <a:rPr lang="en-US" sz="1300" b="1" dirty="0">
                <a:solidFill>
                  <a:srgbClr val="4A148C"/>
                </a:solidFill>
                <a:latin typeface="Times New Roman" pitchFamily="18" charset="0"/>
                <a:ea typeface="Calibri" pitchFamily="34" charset="-122"/>
                <a:cs typeface="Times New Roman" pitchFamily="18" charset="0"/>
              </a:rPr>
              <a:t>Target Graduate Programmes</a:t>
            </a:r>
            <a:endParaRPr lang="en-US" sz="1300" dirty="0">
              <a:latin typeface="Times New Roman" pitchFamily="18" charset="0"/>
              <a:cs typeface="Times New Roman" pitchFamily="18" charset="0"/>
            </a:endParaRPr>
          </a:p>
        </p:txBody>
      </p:sp>
      <p:sp>
        <p:nvSpPr>
          <p:cNvPr id="14" name="Shape 11"/>
          <p:cNvSpPr/>
          <p:nvPr/>
        </p:nvSpPr>
        <p:spPr>
          <a:xfrm>
            <a:off x="4983480" y="1755648"/>
            <a:ext cx="3657600" cy="219456"/>
          </a:xfrm>
          <a:prstGeom prst="rect">
            <a:avLst/>
          </a:prstGeom>
          <a:solidFill>
            <a:srgbClr val="EDE7F6"/>
          </a:solidFill>
          <a:ln w="12700">
            <a:solidFill>
              <a:srgbClr val="EDE7F6"/>
            </a:solidFill>
            <a:prstDash val="solid"/>
          </a:ln>
        </p:spPr>
      </p:sp>
      <p:sp>
        <p:nvSpPr>
          <p:cNvPr id="15" name="Text 12"/>
          <p:cNvSpPr/>
          <p:nvPr/>
        </p:nvSpPr>
        <p:spPr>
          <a:xfrm>
            <a:off x="5047488" y="1764792"/>
            <a:ext cx="3566160" cy="201168"/>
          </a:xfrm>
          <a:prstGeom prst="rect">
            <a:avLst/>
          </a:prstGeom>
          <a:noFill/>
          <a:ln/>
        </p:spPr>
        <p:txBody>
          <a:bodyPr wrap="square" lIns="0" tIns="0" rIns="0" bIns="0" rtlCol="0" anchor="ctr"/>
          <a:lstStyle/>
          <a:p>
            <a:pPr marL="0" indent="0">
              <a:buNone/>
            </a:pPr>
            <a:r>
              <a:rPr lang="en-US" sz="1000" b="1" dirty="0">
                <a:solidFill>
                  <a:srgbClr val="4A148C"/>
                </a:solidFill>
                <a:latin typeface="Times New Roman" pitchFamily="18" charset="0"/>
                <a:ea typeface="Calibri" pitchFamily="34" charset="-122"/>
                <a:cs typeface="Times New Roman" pitchFamily="18" charset="0"/>
              </a:rPr>
              <a:t>Newcastle University  |  UK</a:t>
            </a:r>
            <a:endParaRPr lang="en-US" sz="1000" dirty="0">
              <a:latin typeface="Times New Roman" pitchFamily="18" charset="0"/>
              <a:cs typeface="Times New Roman" pitchFamily="18" charset="0"/>
            </a:endParaRPr>
          </a:p>
        </p:txBody>
      </p:sp>
      <p:sp>
        <p:nvSpPr>
          <p:cNvPr id="16" name="Text 13"/>
          <p:cNvSpPr/>
          <p:nvPr/>
        </p:nvSpPr>
        <p:spPr>
          <a:xfrm>
            <a:off x="5074920" y="2011680"/>
            <a:ext cx="3566160" cy="914400"/>
          </a:xfrm>
          <a:prstGeom prst="rect">
            <a:avLst/>
          </a:prstGeom>
          <a:noFill/>
          <a:ln/>
        </p:spPr>
        <p:txBody>
          <a:bodyPr wrap="square" lIns="0" tIns="0" rIns="0" bIns="0" rtlCol="0" anchor="ctr"/>
          <a:lstStyle/>
          <a:p>
            <a:pPr marL="342900" indent="-342900">
              <a:buSzPct val="100000"/>
              <a:buChar char="•"/>
            </a:pPr>
            <a:r>
              <a:rPr lang="en-US" sz="1050" dirty="0">
                <a:solidFill>
                  <a:srgbClr val="212121"/>
                </a:solidFill>
                <a:latin typeface="Times New Roman" pitchFamily="18" charset="0"/>
                <a:ea typeface="Calibri" pitchFamily="34" charset="-122"/>
                <a:cs typeface="Times New Roman" pitchFamily="18" charset="0"/>
              </a:rPr>
              <a:t>MSc </a:t>
            </a:r>
            <a:r>
              <a:rPr lang="en-US" sz="1050" dirty="0" smtClean="0">
                <a:solidFill>
                  <a:srgbClr val="212121"/>
                </a:solidFill>
                <a:latin typeface="Times New Roman" pitchFamily="18" charset="0"/>
                <a:ea typeface="Calibri" pitchFamily="34" charset="-122"/>
                <a:cs typeface="Times New Roman" pitchFamily="18" charset="0"/>
              </a:rPr>
              <a:t>Biomedical Engineering</a:t>
            </a:r>
          </a:p>
          <a:p>
            <a:pPr marL="342900" indent="-342900">
              <a:buSzPct val="100000"/>
              <a:buFontTx/>
              <a:buChar char="•"/>
            </a:pPr>
            <a:r>
              <a:rPr lang="en-US" sz="1050" dirty="0">
                <a:solidFill>
                  <a:srgbClr val="212121"/>
                </a:solidFill>
                <a:latin typeface="Times New Roman" pitchFamily="18" charset="0"/>
                <a:ea typeface="Calibri" pitchFamily="34" charset="-122"/>
                <a:cs typeface="Times New Roman" pitchFamily="18" charset="0"/>
              </a:rPr>
              <a:t>Research focus in </a:t>
            </a:r>
            <a:r>
              <a:rPr lang="en-JM" sz="1050" dirty="0">
                <a:latin typeface="Times New Roman" pitchFamily="18" charset="0"/>
                <a:cs typeface="Times New Roman" pitchFamily="18" charset="0"/>
              </a:rPr>
              <a:t>Biomechanical Stream</a:t>
            </a:r>
            <a:endParaRPr lang="en-US" sz="1050" dirty="0" smtClean="0">
              <a:solidFill>
                <a:srgbClr val="212121"/>
              </a:solidFill>
              <a:latin typeface="Times New Roman" pitchFamily="18" charset="0"/>
              <a:ea typeface="Calibri" pitchFamily="34" charset="-122"/>
              <a:cs typeface="Times New Roman" pitchFamily="18" charset="0"/>
            </a:endParaRPr>
          </a:p>
          <a:p>
            <a:pPr marL="342900" indent="-342900">
              <a:buSzPct val="100000"/>
              <a:buFontTx/>
              <a:buChar char="•"/>
            </a:pPr>
            <a:r>
              <a:rPr lang="en-US" sz="1050" dirty="0" smtClean="0">
                <a:solidFill>
                  <a:srgbClr val="212121"/>
                </a:solidFill>
                <a:latin typeface="Times New Roman" pitchFamily="18" charset="0"/>
                <a:ea typeface="Calibri" pitchFamily="34" charset="-122"/>
                <a:cs typeface="Times New Roman" pitchFamily="18" charset="0"/>
              </a:rPr>
              <a:t>CAMPEP-adjacent </a:t>
            </a:r>
            <a:r>
              <a:rPr lang="en-US" sz="1050" dirty="0">
                <a:solidFill>
                  <a:srgbClr val="212121"/>
                </a:solidFill>
                <a:latin typeface="Times New Roman" pitchFamily="18" charset="0"/>
                <a:ea typeface="Calibri" pitchFamily="34" charset="-122"/>
                <a:cs typeface="Times New Roman" pitchFamily="18" charset="0"/>
              </a:rPr>
              <a:t>pathway for clinical physics</a:t>
            </a:r>
            <a:endParaRPr lang="en-US" sz="1050" dirty="0">
              <a:latin typeface="Times New Roman" pitchFamily="18" charset="0"/>
              <a:cs typeface="Times New Roman" pitchFamily="18" charset="0"/>
            </a:endParaRPr>
          </a:p>
          <a:p>
            <a:pPr marL="342900" indent="-342900">
              <a:buSzPct val="100000"/>
              <a:buChar char="•"/>
            </a:pPr>
            <a:r>
              <a:rPr lang="en-US" sz="1050" dirty="0">
                <a:solidFill>
                  <a:srgbClr val="212121"/>
                </a:solidFill>
                <a:latin typeface="Times New Roman" pitchFamily="18" charset="0"/>
                <a:ea typeface="Calibri" pitchFamily="34" charset="-122"/>
                <a:cs typeface="Times New Roman" pitchFamily="18" charset="0"/>
              </a:rPr>
              <a:t>Strong research links to NHS clinical </a:t>
            </a:r>
            <a:r>
              <a:rPr lang="en-US" sz="1050" dirty="0" smtClean="0">
                <a:solidFill>
                  <a:srgbClr val="212121"/>
                </a:solidFill>
                <a:latin typeface="Times New Roman" pitchFamily="18" charset="0"/>
                <a:ea typeface="Calibri" pitchFamily="34" charset="-122"/>
                <a:cs typeface="Times New Roman" pitchFamily="18" charset="0"/>
              </a:rPr>
              <a:t>partners</a:t>
            </a:r>
          </a:p>
        </p:txBody>
      </p:sp>
      <p:sp>
        <p:nvSpPr>
          <p:cNvPr id="17" name="Shape 14"/>
          <p:cNvSpPr/>
          <p:nvPr/>
        </p:nvSpPr>
        <p:spPr>
          <a:xfrm>
            <a:off x="4983480" y="3017520"/>
            <a:ext cx="3657600" cy="219456"/>
          </a:xfrm>
          <a:prstGeom prst="rect">
            <a:avLst/>
          </a:prstGeom>
          <a:solidFill>
            <a:srgbClr val="FFFDE7"/>
          </a:solidFill>
          <a:ln w="12700">
            <a:solidFill>
              <a:srgbClr val="FFFDE7"/>
            </a:solidFill>
            <a:prstDash val="solid"/>
          </a:ln>
        </p:spPr>
      </p:sp>
      <p:sp>
        <p:nvSpPr>
          <p:cNvPr id="18" name="Text 15"/>
          <p:cNvSpPr/>
          <p:nvPr/>
        </p:nvSpPr>
        <p:spPr>
          <a:xfrm>
            <a:off x="5047488" y="3026664"/>
            <a:ext cx="3566160" cy="201168"/>
          </a:xfrm>
          <a:prstGeom prst="rect">
            <a:avLst/>
          </a:prstGeom>
          <a:noFill/>
          <a:ln/>
        </p:spPr>
        <p:txBody>
          <a:bodyPr wrap="square" lIns="0" tIns="0" rIns="0" bIns="0" rtlCol="0" anchor="ctr"/>
          <a:lstStyle/>
          <a:p>
            <a:pPr marL="0" indent="0">
              <a:buNone/>
            </a:pPr>
            <a:r>
              <a:rPr lang="en-US" sz="1000" b="1" dirty="0">
                <a:solidFill>
                  <a:srgbClr val="F9A825"/>
                </a:solidFill>
                <a:latin typeface="Times New Roman" pitchFamily="18" charset="0"/>
                <a:ea typeface="Calibri" pitchFamily="34" charset="-122"/>
                <a:cs typeface="Times New Roman" pitchFamily="18" charset="0"/>
              </a:rPr>
              <a:t>Wayne State University  |  US</a:t>
            </a:r>
            <a:endParaRPr lang="en-US" sz="1000" dirty="0">
              <a:latin typeface="Times New Roman" pitchFamily="18" charset="0"/>
              <a:cs typeface="Times New Roman" pitchFamily="18" charset="0"/>
            </a:endParaRPr>
          </a:p>
        </p:txBody>
      </p:sp>
      <p:sp>
        <p:nvSpPr>
          <p:cNvPr id="19" name="Text 16"/>
          <p:cNvSpPr/>
          <p:nvPr/>
        </p:nvSpPr>
        <p:spPr>
          <a:xfrm>
            <a:off x="5074920" y="3273552"/>
            <a:ext cx="3566160" cy="798576"/>
          </a:xfrm>
          <a:prstGeom prst="rect">
            <a:avLst/>
          </a:prstGeom>
          <a:noFill/>
          <a:ln/>
        </p:spPr>
        <p:txBody>
          <a:bodyPr wrap="square" lIns="0" tIns="0" rIns="0" bIns="0" rtlCol="0" anchor="ctr"/>
          <a:lstStyle/>
          <a:p>
            <a:pPr marL="342900" indent="-342900">
              <a:buSzPct val="100000"/>
              <a:buChar char="•"/>
            </a:pPr>
            <a:r>
              <a:rPr lang="en-US" sz="1050" dirty="0">
                <a:solidFill>
                  <a:srgbClr val="212121"/>
                </a:solidFill>
                <a:latin typeface="Times New Roman" pitchFamily="18" charset="0"/>
                <a:ea typeface="Calibri" pitchFamily="34" charset="-122"/>
                <a:cs typeface="Times New Roman" pitchFamily="18" charset="0"/>
              </a:rPr>
              <a:t>MS Biomedical Engineering</a:t>
            </a:r>
            <a:endParaRPr lang="en-US" sz="1050" dirty="0">
              <a:latin typeface="Times New Roman" pitchFamily="18" charset="0"/>
              <a:cs typeface="Times New Roman" pitchFamily="18" charset="0"/>
            </a:endParaRPr>
          </a:p>
          <a:p>
            <a:pPr marL="342900" indent="-342900">
              <a:buSzPct val="100000"/>
              <a:buChar char="•"/>
            </a:pPr>
            <a:r>
              <a:rPr lang="en-US" sz="1050" dirty="0">
                <a:solidFill>
                  <a:srgbClr val="212121"/>
                </a:solidFill>
                <a:latin typeface="Times New Roman" pitchFamily="18" charset="0"/>
                <a:ea typeface="Calibri" pitchFamily="34" charset="-122"/>
                <a:cs typeface="Times New Roman" pitchFamily="18" charset="0"/>
              </a:rPr>
              <a:t>Research focus in </a:t>
            </a:r>
            <a:r>
              <a:rPr lang="en-US" sz="1050" dirty="0" smtClean="0">
                <a:solidFill>
                  <a:srgbClr val="212121"/>
                </a:solidFill>
                <a:latin typeface="Times New Roman" pitchFamily="18" charset="0"/>
                <a:ea typeface="Calibri" pitchFamily="34" charset="-122"/>
                <a:cs typeface="Times New Roman" pitchFamily="18" charset="0"/>
              </a:rPr>
              <a:t>either I</a:t>
            </a:r>
            <a:r>
              <a:rPr lang="en-JM" sz="1050" dirty="0" err="1" smtClean="0">
                <a:latin typeface="Times New Roman" pitchFamily="18" charset="0"/>
                <a:cs typeface="Times New Roman" pitchFamily="18" charset="0"/>
              </a:rPr>
              <a:t>njury</a:t>
            </a:r>
            <a:r>
              <a:rPr lang="en-JM" sz="1050" dirty="0">
                <a:latin typeface="Times New Roman" pitchFamily="18" charset="0"/>
                <a:cs typeface="Times New Roman" pitchFamily="18" charset="0"/>
              </a:rPr>
              <a:t> Biomechanics or Biomedical Imaging and Instrumentation</a:t>
            </a:r>
            <a:endParaRPr lang="en-US" sz="1050" dirty="0">
              <a:latin typeface="Times New Roman" pitchFamily="18" charset="0"/>
              <a:cs typeface="Times New Roman" pitchFamily="18" charset="0"/>
            </a:endParaRPr>
          </a:p>
          <a:p>
            <a:pPr marL="342900" indent="-342900">
              <a:buSzPct val="100000"/>
              <a:buChar char="•"/>
            </a:pPr>
            <a:r>
              <a:rPr lang="en-US" sz="1050" dirty="0">
                <a:solidFill>
                  <a:srgbClr val="212121"/>
                </a:solidFill>
                <a:latin typeface="Times New Roman" pitchFamily="18" charset="0"/>
                <a:ea typeface="Calibri" pitchFamily="34" charset="-122"/>
                <a:cs typeface="Times New Roman" pitchFamily="18" charset="0"/>
              </a:rPr>
              <a:t>Access to clinical training in Detroit Medical Center</a:t>
            </a:r>
            <a:endParaRPr lang="en-US" sz="1050" dirty="0">
              <a:latin typeface="Times New Roman" pitchFamily="18" charset="0"/>
              <a:cs typeface="Times New Roman" pitchFamily="18" charset="0"/>
            </a:endParaRPr>
          </a:p>
        </p:txBody>
      </p:sp>
      <p:sp>
        <p:nvSpPr>
          <p:cNvPr id="20" name="Shape 17"/>
          <p:cNvSpPr/>
          <p:nvPr/>
        </p:nvSpPr>
        <p:spPr>
          <a:xfrm>
            <a:off x="4983480" y="4224528"/>
            <a:ext cx="3657600" cy="411480"/>
          </a:xfrm>
          <a:prstGeom prst="rect">
            <a:avLst/>
          </a:prstGeom>
          <a:solidFill>
            <a:srgbClr val="FFF0F5"/>
          </a:solidFill>
          <a:ln w="12700">
            <a:solidFill>
              <a:srgbClr val="FCE4EC"/>
            </a:solidFill>
            <a:prstDash val="solid"/>
          </a:ln>
        </p:spPr>
      </p:sp>
      <p:sp>
        <p:nvSpPr>
          <p:cNvPr id="21" name="Text 18"/>
          <p:cNvSpPr/>
          <p:nvPr/>
        </p:nvSpPr>
        <p:spPr>
          <a:xfrm>
            <a:off x="5047488" y="4251960"/>
            <a:ext cx="3566160" cy="347472"/>
          </a:xfrm>
          <a:prstGeom prst="rect">
            <a:avLst/>
          </a:prstGeom>
          <a:noFill/>
          <a:ln/>
        </p:spPr>
        <p:txBody>
          <a:bodyPr wrap="square" lIns="0" tIns="0" rIns="0" bIns="0" rtlCol="0" anchor="ctr"/>
          <a:lstStyle/>
          <a:p>
            <a:pPr marL="0" indent="0">
              <a:buNone/>
            </a:pPr>
            <a:r>
              <a:rPr lang="en-US" sz="950" i="1" dirty="0">
                <a:solidFill>
                  <a:srgbClr val="C2185B"/>
                </a:solidFill>
                <a:latin typeface="Times New Roman" pitchFamily="18" charset="0"/>
                <a:ea typeface="Calibri" pitchFamily="34" charset="-122"/>
                <a:cs typeface="Times New Roman" pitchFamily="18" charset="0"/>
              </a:rPr>
              <a:t>Both programmes align with research interests in nuclear </a:t>
            </a:r>
            <a:r>
              <a:rPr lang="en-US" sz="950" i="1" dirty="0" smtClean="0">
                <a:solidFill>
                  <a:srgbClr val="C2185B"/>
                </a:solidFill>
                <a:latin typeface="Times New Roman" pitchFamily="18" charset="0"/>
                <a:ea typeface="Calibri" pitchFamily="34" charset="-122"/>
                <a:cs typeface="Times New Roman" pitchFamily="18" charset="0"/>
              </a:rPr>
              <a:t>medicine and </a:t>
            </a:r>
            <a:r>
              <a:rPr lang="en-US" sz="950" i="1" dirty="0">
                <a:solidFill>
                  <a:srgbClr val="C2185B"/>
                </a:solidFill>
                <a:latin typeface="Times New Roman" pitchFamily="18" charset="0"/>
                <a:ea typeface="Calibri" pitchFamily="34" charset="-122"/>
                <a:cs typeface="Times New Roman" pitchFamily="18" charset="0"/>
              </a:rPr>
              <a:t>quantitative </a:t>
            </a:r>
            <a:r>
              <a:rPr lang="en-US" sz="950" i="1" dirty="0" smtClean="0">
                <a:solidFill>
                  <a:srgbClr val="C2185B"/>
                </a:solidFill>
                <a:latin typeface="Times New Roman" pitchFamily="18" charset="0"/>
                <a:ea typeface="Calibri" pitchFamily="34" charset="-122"/>
                <a:cs typeface="Times New Roman" pitchFamily="18" charset="0"/>
              </a:rPr>
              <a:t>imaging which I’m interested in</a:t>
            </a:r>
            <a:endParaRPr lang="en-US" sz="950" dirty="0">
              <a:latin typeface="Times New Roman" pitchFamily="18" charset="0"/>
              <a:cs typeface="Times New Roman" pitchFamily="18" charset="0"/>
            </a:endParaRPr>
          </a:p>
        </p:txBody>
      </p:sp>
      <p:sp>
        <p:nvSpPr>
          <p:cNvPr id="22" name="TextBox 21"/>
          <p:cNvSpPr txBox="1"/>
          <p:nvPr/>
        </p:nvSpPr>
        <p:spPr>
          <a:xfrm>
            <a:off x="548640" y="2304288"/>
            <a:ext cx="3429000" cy="2123658"/>
          </a:xfrm>
          <a:prstGeom prst="rect">
            <a:avLst/>
          </a:prstGeom>
          <a:noFill/>
        </p:spPr>
        <p:txBody>
          <a:bodyPr wrap="square" rtlCol="0">
            <a:spAutoFit/>
          </a:bodyPr>
          <a:lstStyle/>
          <a:p>
            <a:r>
              <a:rPr lang="en-US" sz="1200" dirty="0">
                <a:latin typeface="Times New Roman" pitchFamily="18" charset="0"/>
                <a:cs typeface="Times New Roman" pitchFamily="18" charset="0"/>
              </a:rPr>
              <a:t>I am completing my BSc in Medical Physics at the University of the West Indies, Mona. My first year was rough and I will not pretend otherwise, but I stayed, addressed what was holding me back, and my results have improved steadily since. Outside academics I served as VP of the Medical Physics Club, Events Coordinator for three consecutive terms, and Course Representative across more than ten modules. UWI is where I found my direction and built the foundation I am now looking to take further.</a:t>
            </a:r>
            <a:endParaRPr lang="en-JM" sz="12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1FA2"/>
          </a:solidFill>
          <a:ln w="12700">
            <a:solidFill>
              <a:srgbClr val="7B1FA2"/>
            </a:solidFill>
            <a:prstDash val="solid"/>
          </a:ln>
        </p:spPr>
      </p:sp>
      <p:sp>
        <p:nvSpPr>
          <p:cNvPr id="4" name="Text 1"/>
          <p:cNvSpPr/>
          <p:nvPr/>
        </p:nvSpPr>
        <p:spPr>
          <a:xfrm>
            <a:off x="182880" y="185928"/>
            <a:ext cx="7772400" cy="502920"/>
          </a:xfrm>
          <a:prstGeom prst="rect">
            <a:avLst/>
          </a:prstGeom>
          <a:noFill/>
          <a:ln/>
        </p:spPr>
        <p:txBody>
          <a:bodyPr wrap="square" lIns="0" tIns="0" rIns="0" bIns="0" rtlCol="0" anchor="ctr"/>
          <a:lstStyle/>
          <a:p>
            <a:pPr marL="0" indent="0">
              <a:buNone/>
            </a:pPr>
            <a:r>
              <a:rPr lang="en-US" sz="2400" b="1" kern="0" spc="200" dirty="0">
                <a:solidFill>
                  <a:srgbClr val="FFFFFF"/>
                </a:solidFill>
                <a:latin typeface="Times New Roman" pitchFamily="18" charset="0"/>
                <a:ea typeface="Calibri" pitchFamily="34" charset="-122"/>
                <a:cs typeface="Times New Roman" pitchFamily="18" charset="0"/>
              </a:rPr>
              <a:t>EXPERIENCE</a:t>
            </a:r>
            <a:endParaRPr lang="en-US" sz="2400" dirty="0">
              <a:latin typeface="Times New Roman" pitchFamily="18" charset="0"/>
              <a:cs typeface="Times New Roman" pitchFamily="18" charset="0"/>
            </a:endParaRPr>
          </a:p>
        </p:txBody>
      </p:sp>
      <p:sp>
        <p:nvSpPr>
          <p:cNvPr id="5" name="Shape 2"/>
          <p:cNvSpPr/>
          <p:nvPr/>
        </p:nvSpPr>
        <p:spPr>
          <a:xfrm>
            <a:off x="365760" y="1143000"/>
            <a:ext cx="8412480" cy="192024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6" name="Shape 3"/>
          <p:cNvSpPr/>
          <p:nvPr/>
        </p:nvSpPr>
        <p:spPr>
          <a:xfrm>
            <a:off x="365760" y="1143000"/>
            <a:ext cx="8412480" cy="54864"/>
          </a:xfrm>
          <a:prstGeom prst="rect">
            <a:avLst/>
          </a:prstGeom>
          <a:solidFill>
            <a:srgbClr val="E91E8C"/>
          </a:solidFill>
          <a:ln w="12700">
            <a:solidFill>
              <a:srgbClr val="E91E8C"/>
            </a:solidFill>
            <a:prstDash val="solid"/>
          </a:ln>
        </p:spPr>
      </p:sp>
      <p:sp>
        <p:nvSpPr>
          <p:cNvPr id="7" name="Text 4"/>
          <p:cNvSpPr/>
          <p:nvPr/>
        </p:nvSpPr>
        <p:spPr>
          <a:xfrm>
            <a:off x="594360" y="1298448"/>
            <a:ext cx="5943600" cy="347472"/>
          </a:xfrm>
          <a:prstGeom prst="rect">
            <a:avLst/>
          </a:prstGeom>
          <a:noFill/>
          <a:ln/>
        </p:spPr>
        <p:txBody>
          <a:bodyPr wrap="square" lIns="0" tIns="0" rIns="0" bIns="0" rtlCol="0" anchor="ctr"/>
          <a:lstStyle/>
          <a:p>
            <a:pPr marL="0" indent="0">
              <a:buNone/>
            </a:pPr>
            <a:r>
              <a:rPr lang="en-US" sz="1500" b="1" dirty="0">
                <a:solidFill>
                  <a:srgbClr val="C2185B"/>
                </a:solidFill>
                <a:latin typeface="Times New Roman" pitchFamily="18" charset="0"/>
                <a:ea typeface="Calibri" pitchFamily="34" charset="-122"/>
                <a:cs typeface="Times New Roman" pitchFamily="18" charset="0"/>
              </a:rPr>
              <a:t>Research Intern</a:t>
            </a:r>
            <a:endParaRPr lang="en-US" sz="1500" dirty="0">
              <a:latin typeface="Times New Roman" pitchFamily="18" charset="0"/>
              <a:cs typeface="Times New Roman" pitchFamily="18" charset="0"/>
            </a:endParaRPr>
          </a:p>
        </p:txBody>
      </p:sp>
      <p:sp>
        <p:nvSpPr>
          <p:cNvPr id="8" name="Shape 5"/>
          <p:cNvSpPr/>
          <p:nvPr/>
        </p:nvSpPr>
        <p:spPr>
          <a:xfrm>
            <a:off x="6675120" y="1316736"/>
            <a:ext cx="1920240" cy="256032"/>
          </a:xfrm>
          <a:prstGeom prst="rect">
            <a:avLst/>
          </a:prstGeom>
          <a:solidFill>
            <a:srgbClr val="FFF0F5"/>
          </a:solidFill>
          <a:ln w="12700">
            <a:solidFill>
              <a:srgbClr val="FCE4EC"/>
            </a:solidFill>
            <a:prstDash val="solid"/>
          </a:ln>
        </p:spPr>
      </p:sp>
      <p:sp>
        <p:nvSpPr>
          <p:cNvPr id="9" name="Text 6"/>
          <p:cNvSpPr/>
          <p:nvPr/>
        </p:nvSpPr>
        <p:spPr>
          <a:xfrm>
            <a:off x="6675120" y="1316736"/>
            <a:ext cx="1920240" cy="256032"/>
          </a:xfrm>
          <a:prstGeom prst="rect">
            <a:avLst/>
          </a:prstGeom>
          <a:noFill/>
          <a:ln/>
        </p:spPr>
        <p:txBody>
          <a:bodyPr wrap="square" lIns="0" tIns="0" rIns="0" bIns="0" rtlCol="0" anchor="ctr"/>
          <a:lstStyle/>
          <a:p>
            <a:pPr marL="0" indent="0" algn="ctr">
              <a:buNone/>
            </a:pPr>
            <a:r>
              <a:rPr lang="en-US" sz="900" dirty="0">
                <a:solidFill>
                  <a:srgbClr val="C2185B"/>
                </a:solidFill>
                <a:latin typeface="Times New Roman" pitchFamily="18" charset="0"/>
                <a:ea typeface="Calibri" pitchFamily="34" charset="-122"/>
                <a:cs typeface="Times New Roman" pitchFamily="18" charset="0"/>
              </a:rPr>
              <a:t>Summer Internship</a:t>
            </a:r>
            <a:endParaRPr lang="en-US" sz="900" dirty="0">
              <a:latin typeface="Times New Roman" pitchFamily="18" charset="0"/>
              <a:cs typeface="Times New Roman" pitchFamily="18" charset="0"/>
            </a:endParaRPr>
          </a:p>
        </p:txBody>
      </p:sp>
      <p:sp>
        <p:nvSpPr>
          <p:cNvPr id="10" name="Text 7"/>
          <p:cNvSpPr/>
          <p:nvPr/>
        </p:nvSpPr>
        <p:spPr>
          <a:xfrm>
            <a:off x="594360" y="1645920"/>
            <a:ext cx="7955280" cy="228600"/>
          </a:xfrm>
          <a:prstGeom prst="rect">
            <a:avLst/>
          </a:prstGeom>
          <a:noFill/>
          <a:ln/>
        </p:spPr>
        <p:txBody>
          <a:bodyPr wrap="square" lIns="0" tIns="0" rIns="0" bIns="0" rtlCol="0" anchor="ctr"/>
          <a:lstStyle/>
          <a:p>
            <a:pPr marL="0" indent="0">
              <a:buNone/>
            </a:pPr>
            <a:r>
              <a:rPr lang="en-US" sz="1200" i="1" dirty="0">
                <a:solidFill>
                  <a:srgbClr val="7B1FA2"/>
                </a:solidFill>
                <a:latin typeface="Times New Roman" pitchFamily="18" charset="0"/>
                <a:ea typeface="Calibri" pitchFamily="34" charset="-122"/>
                <a:cs typeface="Times New Roman" pitchFamily="18" charset="0"/>
              </a:rPr>
              <a:t>International Centre for Environmental and Nuclear Sciences (ICENS), Jamaica</a:t>
            </a:r>
            <a:endParaRPr lang="en-US" sz="1200" dirty="0">
              <a:latin typeface="Times New Roman" pitchFamily="18" charset="0"/>
              <a:cs typeface="Times New Roman" pitchFamily="18" charset="0"/>
            </a:endParaRPr>
          </a:p>
        </p:txBody>
      </p:sp>
      <p:sp>
        <p:nvSpPr>
          <p:cNvPr id="11" name="Text 8"/>
          <p:cNvSpPr/>
          <p:nvPr/>
        </p:nvSpPr>
        <p:spPr>
          <a:xfrm>
            <a:off x="594360" y="1920240"/>
            <a:ext cx="7955280" cy="914400"/>
          </a:xfrm>
          <a:prstGeom prst="rect">
            <a:avLst/>
          </a:prstGeom>
          <a:noFill/>
          <a:ln/>
        </p:spPr>
        <p:txBody>
          <a:bodyPr wrap="square" lIns="0" tIns="0" rIns="0" bIns="0" rtlCol="0" anchor="ctr"/>
          <a:lstStyle/>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Worked with thermoluminescent dosimeters (TLDs) supporting national radiation monitoring programmes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Gained direct experience of professional dosimetry practice in a research environment outside the classroom</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Exposure to clinical medical physics work confirmed the career direction toward nuclear medicine and radiation oncology</a:t>
            </a:r>
            <a:endParaRPr lang="en-US" sz="1200" dirty="0">
              <a:latin typeface="Times New Roman" pitchFamily="18" charset="0"/>
              <a:cs typeface="Times New Roman" pitchFamily="18" charset="0"/>
            </a:endParaRPr>
          </a:p>
        </p:txBody>
      </p:sp>
      <p:sp>
        <p:nvSpPr>
          <p:cNvPr id="12" name="Shape 9"/>
          <p:cNvSpPr/>
          <p:nvPr/>
        </p:nvSpPr>
        <p:spPr>
          <a:xfrm>
            <a:off x="365760" y="3246120"/>
            <a:ext cx="8412480" cy="160020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3" name="Shape 10"/>
          <p:cNvSpPr/>
          <p:nvPr/>
        </p:nvSpPr>
        <p:spPr>
          <a:xfrm>
            <a:off x="365760" y="3246120"/>
            <a:ext cx="8412480" cy="54864"/>
          </a:xfrm>
          <a:prstGeom prst="rect">
            <a:avLst/>
          </a:prstGeom>
          <a:solidFill>
            <a:srgbClr val="4A148C"/>
          </a:solidFill>
          <a:ln w="12700">
            <a:solidFill>
              <a:srgbClr val="4A148C"/>
            </a:solidFill>
            <a:prstDash val="solid"/>
          </a:ln>
        </p:spPr>
      </p:sp>
      <p:sp>
        <p:nvSpPr>
          <p:cNvPr id="14" name="Text 11"/>
          <p:cNvSpPr/>
          <p:nvPr/>
        </p:nvSpPr>
        <p:spPr>
          <a:xfrm>
            <a:off x="594360" y="3401568"/>
            <a:ext cx="6400800" cy="347472"/>
          </a:xfrm>
          <a:prstGeom prst="rect">
            <a:avLst/>
          </a:prstGeom>
          <a:noFill/>
          <a:ln/>
        </p:spPr>
        <p:txBody>
          <a:bodyPr wrap="square" lIns="0" tIns="0" rIns="0" bIns="0" rtlCol="0" anchor="ctr"/>
          <a:lstStyle/>
          <a:p>
            <a:pPr marL="0" indent="0">
              <a:buNone/>
            </a:pPr>
            <a:r>
              <a:rPr lang="en-US" sz="1400" b="1" dirty="0">
                <a:solidFill>
                  <a:srgbClr val="4A148C"/>
                </a:solidFill>
                <a:latin typeface="Times New Roman" pitchFamily="18" charset="0"/>
                <a:ea typeface="Calibri" pitchFamily="34" charset="-122"/>
                <a:cs typeface="Times New Roman" pitchFamily="18" charset="0"/>
              </a:rPr>
              <a:t>CariSurg MedTech Pathways 2026</a:t>
            </a:r>
            <a:endParaRPr lang="en-US" sz="1400" dirty="0">
              <a:latin typeface="Times New Roman" pitchFamily="18" charset="0"/>
              <a:cs typeface="Times New Roman" pitchFamily="18" charset="0"/>
            </a:endParaRPr>
          </a:p>
        </p:txBody>
      </p:sp>
      <p:sp>
        <p:nvSpPr>
          <p:cNvPr id="15" name="Shape 12"/>
          <p:cNvSpPr/>
          <p:nvPr/>
        </p:nvSpPr>
        <p:spPr>
          <a:xfrm>
            <a:off x="7178040" y="3419856"/>
            <a:ext cx="1417320" cy="256032"/>
          </a:xfrm>
          <a:prstGeom prst="rect">
            <a:avLst/>
          </a:prstGeom>
          <a:solidFill>
            <a:srgbClr val="EDE7F6"/>
          </a:solidFill>
          <a:ln w="12700">
            <a:solidFill>
              <a:srgbClr val="EDE7F6"/>
            </a:solidFill>
            <a:prstDash val="solid"/>
          </a:ln>
        </p:spPr>
      </p:sp>
      <p:sp>
        <p:nvSpPr>
          <p:cNvPr id="16" name="Text 13"/>
          <p:cNvSpPr/>
          <p:nvPr/>
        </p:nvSpPr>
        <p:spPr>
          <a:xfrm>
            <a:off x="7178040" y="3419856"/>
            <a:ext cx="1417320" cy="256032"/>
          </a:xfrm>
          <a:prstGeom prst="rect">
            <a:avLst/>
          </a:prstGeom>
          <a:noFill/>
          <a:ln/>
        </p:spPr>
        <p:txBody>
          <a:bodyPr wrap="square" lIns="0" tIns="0" rIns="0" bIns="0" rtlCol="0" anchor="ctr"/>
          <a:lstStyle/>
          <a:p>
            <a:pPr marL="0" indent="0" algn="ctr">
              <a:buNone/>
            </a:pPr>
            <a:r>
              <a:rPr lang="en-US" sz="900" dirty="0">
                <a:solidFill>
                  <a:srgbClr val="7B1FA2"/>
                </a:solidFill>
                <a:latin typeface="Times New Roman" pitchFamily="18" charset="0"/>
                <a:ea typeface="Calibri" pitchFamily="34" charset="-122"/>
                <a:cs typeface="Times New Roman" pitchFamily="18" charset="0"/>
              </a:rPr>
              <a:t>Ongoing</a:t>
            </a:r>
            <a:endParaRPr lang="en-US" sz="900" dirty="0">
              <a:latin typeface="Times New Roman" pitchFamily="18" charset="0"/>
              <a:cs typeface="Times New Roman" pitchFamily="18" charset="0"/>
            </a:endParaRPr>
          </a:p>
        </p:txBody>
      </p:sp>
      <p:sp>
        <p:nvSpPr>
          <p:cNvPr id="17" name="Text 14"/>
          <p:cNvSpPr/>
          <p:nvPr/>
        </p:nvSpPr>
        <p:spPr>
          <a:xfrm>
            <a:off x="594360" y="3749040"/>
            <a:ext cx="7955280" cy="228600"/>
          </a:xfrm>
          <a:prstGeom prst="rect">
            <a:avLst/>
          </a:prstGeom>
          <a:noFill/>
          <a:ln/>
        </p:spPr>
        <p:txBody>
          <a:bodyPr wrap="square" lIns="0" tIns="0" rIns="0" bIns="0" rtlCol="0" anchor="ctr"/>
          <a:lstStyle/>
          <a:p>
            <a:pPr marL="0" indent="0">
              <a:buNone/>
            </a:pPr>
            <a:r>
              <a:rPr lang="en-US" sz="1100" i="1" dirty="0">
                <a:solidFill>
                  <a:srgbClr val="7B1FA2"/>
                </a:solidFill>
                <a:latin typeface="Times New Roman" pitchFamily="18" charset="0"/>
                <a:ea typeface="Calibri" pitchFamily="34" charset="-122"/>
                <a:cs typeface="Times New Roman" pitchFamily="18" charset="0"/>
              </a:rPr>
              <a:t>Cohort 2026  |  Healthcare data and clinical algorithms</a:t>
            </a:r>
            <a:endParaRPr lang="en-US" sz="1100" dirty="0">
              <a:latin typeface="Times New Roman" pitchFamily="18" charset="0"/>
              <a:cs typeface="Times New Roman" pitchFamily="18" charset="0"/>
            </a:endParaRPr>
          </a:p>
        </p:txBody>
      </p:sp>
      <p:sp>
        <p:nvSpPr>
          <p:cNvPr id="18" name="Text 15"/>
          <p:cNvSpPr/>
          <p:nvPr/>
        </p:nvSpPr>
        <p:spPr>
          <a:xfrm>
            <a:off x="594360" y="4005072"/>
            <a:ext cx="7955280" cy="685800"/>
          </a:xfrm>
          <a:prstGeom prst="rect">
            <a:avLst/>
          </a:prstGeom>
          <a:noFill/>
          <a:ln/>
        </p:spPr>
        <p:txBody>
          <a:bodyPr wrap="square" lIns="0" tIns="0" rIns="0" bIns="0" rtlCol="0" anchor="ctr"/>
          <a:lstStyle/>
          <a:p>
            <a:pPr marL="342900" indent="-342900">
              <a:buSzPct val="100000"/>
              <a:buChar char="•"/>
            </a:pPr>
            <a:r>
              <a:rPr lang="en-US" sz="1100" dirty="0">
                <a:solidFill>
                  <a:srgbClr val="212121"/>
                </a:solidFill>
                <a:latin typeface="Times New Roman" pitchFamily="18" charset="0"/>
                <a:ea typeface="Calibri" pitchFamily="34" charset="-122"/>
                <a:cs typeface="Times New Roman" pitchFamily="18" charset="0"/>
              </a:rPr>
              <a:t>Clinical data cleaning, EDA, and visualisation on a 2,205-patient emergency triage dataset</a:t>
            </a:r>
            <a:endParaRPr lang="en-US" sz="1100" dirty="0">
              <a:latin typeface="Times New Roman" pitchFamily="18" charset="0"/>
              <a:cs typeface="Times New Roman" pitchFamily="18" charset="0"/>
            </a:endParaRPr>
          </a:p>
          <a:p>
            <a:pPr marL="342900" indent="-342900">
              <a:buSzPct val="100000"/>
              <a:buChar char="•"/>
            </a:pPr>
            <a:r>
              <a:rPr lang="en-US" sz="1100" dirty="0">
                <a:solidFill>
                  <a:srgbClr val="212121"/>
                </a:solidFill>
                <a:latin typeface="Times New Roman" pitchFamily="18" charset="0"/>
                <a:ea typeface="Calibri" pitchFamily="34" charset="-122"/>
                <a:cs typeface="Times New Roman" pitchFamily="18" charset="0"/>
              </a:rPr>
              <a:t>Designed a rule-based digital triage model grounded in NEWS2, SIRS, and qSOFA frameworks</a:t>
            </a:r>
            <a:endParaRPr lang="en-US" sz="11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3048"/>
            <a:ext cx="9144000" cy="960120"/>
          </a:xfrm>
          <a:prstGeom prst="rect">
            <a:avLst/>
          </a:prstGeom>
          <a:solidFill>
            <a:srgbClr val="C2185B"/>
          </a:solidFill>
          <a:ln w="12700">
            <a:solidFill>
              <a:srgbClr val="C2185B"/>
            </a:solidFill>
            <a:prstDash val="solid"/>
          </a:ln>
        </p:spPr>
      </p:sp>
      <p:sp>
        <p:nvSpPr>
          <p:cNvPr id="4" name="Text 1"/>
          <p:cNvSpPr/>
          <p:nvPr/>
        </p:nvSpPr>
        <p:spPr>
          <a:xfrm>
            <a:off x="207264" y="231648"/>
            <a:ext cx="7772400" cy="502920"/>
          </a:xfrm>
          <a:prstGeom prst="rect">
            <a:avLst/>
          </a:prstGeom>
          <a:noFill/>
          <a:ln/>
        </p:spPr>
        <p:txBody>
          <a:bodyPr wrap="square" lIns="0" tIns="0" rIns="0" bIns="0" rtlCol="0" anchor="ctr"/>
          <a:lstStyle/>
          <a:p>
            <a:pPr marL="0" indent="0">
              <a:buNone/>
            </a:pPr>
            <a:r>
              <a:rPr lang="en-US" sz="2400" b="1" kern="0" spc="200" dirty="0">
                <a:solidFill>
                  <a:srgbClr val="FFFFFF"/>
                </a:solidFill>
                <a:latin typeface="Times New Roman" pitchFamily="18" charset="0"/>
                <a:ea typeface="Calibri" pitchFamily="34" charset="-122"/>
                <a:cs typeface="Times New Roman" pitchFamily="18" charset="0"/>
              </a:rPr>
              <a:t>TECHNICAL SKILLS</a:t>
            </a:r>
            <a:endParaRPr lang="en-US" sz="2400" dirty="0">
              <a:latin typeface="Times New Roman" pitchFamily="18" charset="0"/>
              <a:cs typeface="Times New Roman" pitchFamily="18" charset="0"/>
            </a:endParaRPr>
          </a:p>
        </p:txBody>
      </p:sp>
      <p:sp>
        <p:nvSpPr>
          <p:cNvPr id="5" name="Shape 2"/>
          <p:cNvSpPr/>
          <p:nvPr/>
        </p:nvSpPr>
        <p:spPr>
          <a:xfrm>
            <a:off x="274320" y="1097280"/>
            <a:ext cx="2788920" cy="374904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6" name="Shape 3"/>
          <p:cNvSpPr/>
          <p:nvPr/>
        </p:nvSpPr>
        <p:spPr>
          <a:xfrm>
            <a:off x="274320" y="1097280"/>
            <a:ext cx="2788920" cy="54864"/>
          </a:xfrm>
          <a:prstGeom prst="rect">
            <a:avLst/>
          </a:prstGeom>
          <a:solidFill>
            <a:srgbClr val="E91E8C"/>
          </a:solidFill>
          <a:ln w="12700">
            <a:solidFill>
              <a:srgbClr val="E91E8C"/>
            </a:solidFill>
            <a:prstDash val="solid"/>
          </a:ln>
        </p:spPr>
      </p:sp>
      <p:pic>
        <p:nvPicPr>
          <p:cNvPr id="7" name="Image 1" descr="preencoded.png"/>
          <p:cNvPicPr>
            <a:picLocks noChangeAspect="1"/>
          </p:cNvPicPr>
          <p:nvPr/>
        </p:nvPicPr>
        <p:blipFill>
          <a:blip r:embed="rId3"/>
          <a:stretch>
            <a:fillRect/>
          </a:stretch>
        </p:blipFill>
        <p:spPr>
          <a:xfrm>
            <a:off x="411480" y="1261872"/>
            <a:ext cx="347472" cy="347472"/>
          </a:xfrm>
          <a:prstGeom prst="rect">
            <a:avLst/>
          </a:prstGeom>
        </p:spPr>
      </p:pic>
      <p:sp>
        <p:nvSpPr>
          <p:cNvPr id="8" name="Text 4"/>
          <p:cNvSpPr/>
          <p:nvPr/>
        </p:nvSpPr>
        <p:spPr>
          <a:xfrm>
            <a:off x="841248" y="1280160"/>
            <a:ext cx="2103120" cy="347472"/>
          </a:xfrm>
          <a:prstGeom prst="rect">
            <a:avLst/>
          </a:prstGeom>
          <a:noFill/>
          <a:ln/>
        </p:spPr>
        <p:txBody>
          <a:bodyPr wrap="square" lIns="0" tIns="0" rIns="0" bIns="0" rtlCol="0" anchor="ctr"/>
          <a:lstStyle/>
          <a:p>
            <a:pPr marL="0" indent="0">
              <a:buNone/>
            </a:pPr>
            <a:r>
              <a:rPr lang="en-US" sz="1200" b="1" dirty="0">
                <a:solidFill>
                  <a:srgbClr val="C2185B"/>
                </a:solidFill>
                <a:latin typeface="Times New Roman" pitchFamily="18" charset="0"/>
                <a:ea typeface="Calibri" pitchFamily="34" charset="-122"/>
                <a:cs typeface="Times New Roman" pitchFamily="18" charset="0"/>
              </a:rPr>
              <a:t>Physics and Dosimetry</a:t>
            </a:r>
            <a:endParaRPr lang="en-US" sz="1200" dirty="0">
              <a:latin typeface="Times New Roman" pitchFamily="18" charset="0"/>
              <a:cs typeface="Times New Roman" pitchFamily="18" charset="0"/>
            </a:endParaRPr>
          </a:p>
        </p:txBody>
      </p:sp>
      <p:sp>
        <p:nvSpPr>
          <p:cNvPr id="9" name="Shape 5"/>
          <p:cNvSpPr/>
          <p:nvPr/>
        </p:nvSpPr>
        <p:spPr>
          <a:xfrm>
            <a:off x="438912" y="1719072"/>
            <a:ext cx="2468880" cy="27432"/>
          </a:xfrm>
          <a:prstGeom prst="rect">
            <a:avLst/>
          </a:prstGeom>
          <a:solidFill>
            <a:srgbClr val="F3E5F5"/>
          </a:solidFill>
          <a:ln w="12700">
            <a:solidFill>
              <a:srgbClr val="F3E5F5"/>
            </a:solidFill>
            <a:prstDash val="solid"/>
          </a:ln>
        </p:spPr>
      </p:sp>
      <p:sp>
        <p:nvSpPr>
          <p:cNvPr id="10" name="Text 6"/>
          <p:cNvSpPr/>
          <p:nvPr/>
        </p:nvSpPr>
        <p:spPr>
          <a:xfrm>
            <a:off x="438912" y="1810512"/>
            <a:ext cx="2468880" cy="2243328"/>
          </a:xfrm>
          <a:prstGeom prst="rect">
            <a:avLst/>
          </a:prstGeom>
          <a:noFill/>
          <a:ln/>
        </p:spPr>
        <p:txBody>
          <a:bodyPr wrap="square" lIns="0" tIns="0" rIns="0" bIns="0" rtlCol="0" anchor="ctr"/>
          <a:lstStyle/>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Thermoluminescent dosimetry (TLDs)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Ionisation chamber measurements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Film dosimetry systems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Radiation monitoring protocols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Radiotherapy dose planning concepts</a:t>
            </a:r>
            <a:endParaRPr lang="en-US" sz="1200" dirty="0">
              <a:latin typeface="Times New Roman" pitchFamily="18" charset="0"/>
              <a:cs typeface="Times New Roman" pitchFamily="18" charset="0"/>
            </a:endParaRPr>
          </a:p>
        </p:txBody>
      </p:sp>
      <p:sp>
        <p:nvSpPr>
          <p:cNvPr id="11" name="Shape 7"/>
          <p:cNvSpPr/>
          <p:nvPr/>
        </p:nvSpPr>
        <p:spPr>
          <a:xfrm>
            <a:off x="3218688" y="1097280"/>
            <a:ext cx="2788920" cy="374904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2" name="Shape 8"/>
          <p:cNvSpPr/>
          <p:nvPr/>
        </p:nvSpPr>
        <p:spPr>
          <a:xfrm>
            <a:off x="3218688" y="1097280"/>
            <a:ext cx="2788920" cy="54864"/>
          </a:xfrm>
          <a:prstGeom prst="rect">
            <a:avLst/>
          </a:prstGeom>
          <a:solidFill>
            <a:srgbClr val="7B1FA2"/>
          </a:solidFill>
          <a:ln w="12700">
            <a:solidFill>
              <a:srgbClr val="7B1FA2"/>
            </a:solidFill>
            <a:prstDash val="solid"/>
          </a:ln>
        </p:spPr>
      </p:sp>
      <p:pic>
        <p:nvPicPr>
          <p:cNvPr id="13" name="Image 2" descr="preencoded.png"/>
          <p:cNvPicPr>
            <a:picLocks noChangeAspect="1"/>
          </p:cNvPicPr>
          <p:nvPr/>
        </p:nvPicPr>
        <p:blipFill>
          <a:blip r:embed="rId4"/>
          <a:stretch>
            <a:fillRect/>
          </a:stretch>
        </p:blipFill>
        <p:spPr>
          <a:xfrm>
            <a:off x="3355848" y="1261872"/>
            <a:ext cx="347472" cy="347472"/>
          </a:xfrm>
          <a:prstGeom prst="rect">
            <a:avLst/>
          </a:prstGeom>
        </p:spPr>
      </p:pic>
      <p:sp>
        <p:nvSpPr>
          <p:cNvPr id="14" name="Text 9"/>
          <p:cNvSpPr/>
          <p:nvPr/>
        </p:nvSpPr>
        <p:spPr>
          <a:xfrm>
            <a:off x="3785616" y="1280160"/>
            <a:ext cx="2103120" cy="347472"/>
          </a:xfrm>
          <a:prstGeom prst="rect">
            <a:avLst/>
          </a:prstGeom>
          <a:noFill/>
          <a:ln/>
        </p:spPr>
        <p:txBody>
          <a:bodyPr wrap="square" lIns="0" tIns="0" rIns="0" bIns="0" rtlCol="0" anchor="ctr"/>
          <a:lstStyle/>
          <a:p>
            <a:pPr marL="0" indent="0">
              <a:buNone/>
            </a:pPr>
            <a:r>
              <a:rPr lang="en-US" sz="1200" b="1" dirty="0">
                <a:solidFill>
                  <a:srgbClr val="7B1FA2"/>
                </a:solidFill>
                <a:latin typeface="Times New Roman" pitchFamily="18" charset="0"/>
                <a:ea typeface="Calibri" pitchFamily="34" charset="-122"/>
                <a:cs typeface="Times New Roman" pitchFamily="18" charset="0"/>
              </a:rPr>
              <a:t>Programming</a:t>
            </a:r>
            <a:endParaRPr lang="en-US" sz="1200" dirty="0">
              <a:latin typeface="Times New Roman" pitchFamily="18" charset="0"/>
              <a:cs typeface="Times New Roman" pitchFamily="18" charset="0"/>
            </a:endParaRPr>
          </a:p>
        </p:txBody>
      </p:sp>
      <p:sp>
        <p:nvSpPr>
          <p:cNvPr id="15" name="Shape 10"/>
          <p:cNvSpPr/>
          <p:nvPr/>
        </p:nvSpPr>
        <p:spPr>
          <a:xfrm>
            <a:off x="3383280" y="1719072"/>
            <a:ext cx="2468880" cy="27432"/>
          </a:xfrm>
          <a:prstGeom prst="rect">
            <a:avLst/>
          </a:prstGeom>
          <a:solidFill>
            <a:srgbClr val="F3E5F5"/>
          </a:solidFill>
          <a:ln w="12700">
            <a:solidFill>
              <a:srgbClr val="F3E5F5"/>
            </a:solidFill>
            <a:prstDash val="solid"/>
          </a:ln>
        </p:spPr>
      </p:sp>
      <p:sp>
        <p:nvSpPr>
          <p:cNvPr id="16" name="Text 11"/>
          <p:cNvSpPr/>
          <p:nvPr/>
        </p:nvSpPr>
        <p:spPr>
          <a:xfrm>
            <a:off x="3383280" y="1810512"/>
            <a:ext cx="2468880" cy="2304288"/>
          </a:xfrm>
          <a:prstGeom prst="rect">
            <a:avLst/>
          </a:prstGeom>
          <a:noFill/>
          <a:ln/>
        </p:spPr>
        <p:txBody>
          <a:bodyPr wrap="square" lIns="0" tIns="0" rIns="0" bIns="0" rtlCol="0" anchor="ctr"/>
          <a:lstStyle/>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Python (pandas, numpy, matplotlib)</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MATLAB</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Dart / Flutter (mobile development)</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Data cleaning and EDA</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Clinical decision algorithm design</a:t>
            </a:r>
            <a:endParaRPr lang="en-US" sz="1200" dirty="0">
              <a:latin typeface="Times New Roman" pitchFamily="18" charset="0"/>
              <a:cs typeface="Times New Roman" pitchFamily="18" charset="0"/>
            </a:endParaRPr>
          </a:p>
        </p:txBody>
      </p:sp>
      <p:sp>
        <p:nvSpPr>
          <p:cNvPr id="17" name="Shape 12"/>
          <p:cNvSpPr/>
          <p:nvPr/>
        </p:nvSpPr>
        <p:spPr>
          <a:xfrm>
            <a:off x="6163056" y="1097280"/>
            <a:ext cx="2788920" cy="3749040"/>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8" name="Shape 13"/>
          <p:cNvSpPr/>
          <p:nvPr/>
        </p:nvSpPr>
        <p:spPr>
          <a:xfrm>
            <a:off x="6163056" y="1097280"/>
            <a:ext cx="2788920" cy="54864"/>
          </a:xfrm>
          <a:prstGeom prst="rect">
            <a:avLst/>
          </a:prstGeom>
          <a:solidFill>
            <a:srgbClr val="F9A825"/>
          </a:solidFill>
          <a:ln w="12700">
            <a:solidFill>
              <a:srgbClr val="F9A825"/>
            </a:solidFill>
            <a:prstDash val="solid"/>
          </a:ln>
        </p:spPr>
      </p:sp>
      <p:pic>
        <p:nvPicPr>
          <p:cNvPr id="19" name="Image 3" descr="preencoded.png"/>
          <p:cNvPicPr>
            <a:picLocks noChangeAspect="1"/>
          </p:cNvPicPr>
          <p:nvPr/>
        </p:nvPicPr>
        <p:blipFill>
          <a:blip r:embed="rId5"/>
          <a:stretch>
            <a:fillRect/>
          </a:stretch>
        </p:blipFill>
        <p:spPr>
          <a:xfrm>
            <a:off x="6300216" y="1261872"/>
            <a:ext cx="347472" cy="347472"/>
          </a:xfrm>
          <a:prstGeom prst="rect">
            <a:avLst/>
          </a:prstGeom>
        </p:spPr>
      </p:pic>
      <p:sp>
        <p:nvSpPr>
          <p:cNvPr id="20" name="Text 14"/>
          <p:cNvSpPr/>
          <p:nvPr/>
        </p:nvSpPr>
        <p:spPr>
          <a:xfrm>
            <a:off x="6729984" y="1280160"/>
            <a:ext cx="2103120" cy="347472"/>
          </a:xfrm>
          <a:prstGeom prst="rect">
            <a:avLst/>
          </a:prstGeom>
          <a:noFill/>
          <a:ln/>
        </p:spPr>
        <p:txBody>
          <a:bodyPr wrap="square" lIns="0" tIns="0" rIns="0" bIns="0" rtlCol="0" anchor="ctr"/>
          <a:lstStyle/>
          <a:p>
            <a:pPr marL="0" indent="0">
              <a:buNone/>
            </a:pPr>
            <a:r>
              <a:rPr lang="en-US" sz="1200" b="1" dirty="0">
                <a:solidFill>
                  <a:srgbClr val="F9A825"/>
                </a:solidFill>
                <a:latin typeface="Times New Roman" pitchFamily="18" charset="0"/>
                <a:ea typeface="Calibri" pitchFamily="34" charset="-122"/>
                <a:cs typeface="Times New Roman" pitchFamily="18" charset="0"/>
              </a:rPr>
              <a:t>Research and Clinical</a:t>
            </a:r>
            <a:endParaRPr lang="en-US" sz="1200" dirty="0">
              <a:latin typeface="Times New Roman" pitchFamily="18" charset="0"/>
              <a:cs typeface="Times New Roman" pitchFamily="18" charset="0"/>
            </a:endParaRPr>
          </a:p>
        </p:txBody>
      </p:sp>
      <p:sp>
        <p:nvSpPr>
          <p:cNvPr id="21" name="Shape 15"/>
          <p:cNvSpPr/>
          <p:nvPr/>
        </p:nvSpPr>
        <p:spPr>
          <a:xfrm>
            <a:off x="6327648" y="1719072"/>
            <a:ext cx="2468880" cy="27432"/>
          </a:xfrm>
          <a:prstGeom prst="rect">
            <a:avLst/>
          </a:prstGeom>
          <a:solidFill>
            <a:srgbClr val="F3E5F5"/>
          </a:solidFill>
          <a:ln w="12700">
            <a:solidFill>
              <a:srgbClr val="F3E5F5"/>
            </a:solidFill>
            <a:prstDash val="solid"/>
          </a:ln>
        </p:spPr>
      </p:sp>
      <p:sp>
        <p:nvSpPr>
          <p:cNvPr id="22" name="Text 16"/>
          <p:cNvSpPr/>
          <p:nvPr/>
        </p:nvSpPr>
        <p:spPr>
          <a:xfrm>
            <a:off x="6327648" y="1810512"/>
            <a:ext cx="2468880" cy="2097024"/>
          </a:xfrm>
          <a:prstGeom prst="rect">
            <a:avLst/>
          </a:prstGeom>
          <a:noFill/>
          <a:ln/>
        </p:spPr>
        <p:txBody>
          <a:bodyPr wrap="square" lIns="0" tIns="0" rIns="0" bIns="0" rtlCol="0" anchor="ctr"/>
          <a:lstStyle/>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Clinical data analysis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NEWS2 and SIRS frameworks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qSOFA sepsis scoring</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Medical imaging principles</a:t>
            </a:r>
            <a:endParaRPr lang="en-US" sz="1200" dirty="0">
              <a:latin typeface="Times New Roman" pitchFamily="18" charset="0"/>
              <a:cs typeface="Times New Roman" pitchFamily="18" charset="0"/>
            </a:endParaRPr>
          </a:p>
          <a:p>
            <a:pPr marL="342900" indent="-342900">
              <a:buSzPct val="100000"/>
              <a:buChar char="•"/>
            </a:pPr>
            <a:r>
              <a:rPr lang="en-US" sz="1200" dirty="0">
                <a:solidFill>
                  <a:srgbClr val="212121"/>
                </a:solidFill>
                <a:latin typeface="Times New Roman" pitchFamily="18" charset="0"/>
                <a:ea typeface="Calibri" pitchFamily="34" charset="-122"/>
                <a:cs typeface="Times New Roman" pitchFamily="18" charset="0"/>
              </a:rPr>
              <a:t>Assistive device design</a:t>
            </a:r>
            <a:endParaRPr lang="en-US" sz="12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7B1FA2"/>
          </a:solidFill>
          <a:ln w="12700">
            <a:solidFill>
              <a:srgbClr val="7B1FA2"/>
            </a:solidFill>
            <a:prstDash val="solid"/>
          </a:ln>
        </p:spPr>
      </p:sp>
      <p:sp>
        <p:nvSpPr>
          <p:cNvPr id="4" name="Text 1"/>
          <p:cNvSpPr/>
          <p:nvPr/>
        </p:nvSpPr>
        <p:spPr>
          <a:xfrm>
            <a:off x="182880" y="237744"/>
            <a:ext cx="7772400" cy="502920"/>
          </a:xfrm>
          <a:prstGeom prst="rect">
            <a:avLst/>
          </a:prstGeom>
          <a:noFill/>
          <a:ln/>
        </p:spPr>
        <p:txBody>
          <a:bodyPr wrap="square" lIns="0" tIns="0" rIns="0" bIns="0" rtlCol="0" anchor="ctr"/>
          <a:lstStyle/>
          <a:p>
            <a:pPr marL="0" indent="0">
              <a:buNone/>
            </a:pPr>
            <a:r>
              <a:rPr lang="en-US" sz="2400" b="1" kern="0" spc="200" dirty="0">
                <a:solidFill>
                  <a:srgbClr val="FFFFFF"/>
                </a:solidFill>
                <a:latin typeface="Times New Roman" pitchFamily="18" charset="0"/>
                <a:ea typeface="Calibri" pitchFamily="34" charset="-122"/>
                <a:cs typeface="Times New Roman" pitchFamily="18" charset="0"/>
              </a:rPr>
              <a:t>ACADEMIC PROJECTS</a:t>
            </a:r>
            <a:endParaRPr lang="en-US" sz="2400" dirty="0">
              <a:latin typeface="Times New Roman" pitchFamily="18" charset="0"/>
              <a:cs typeface="Times New Roman" pitchFamily="18" charset="0"/>
            </a:endParaRPr>
          </a:p>
        </p:txBody>
      </p:sp>
      <p:sp>
        <p:nvSpPr>
          <p:cNvPr id="5" name="Shape 2"/>
          <p:cNvSpPr/>
          <p:nvPr/>
        </p:nvSpPr>
        <p:spPr>
          <a:xfrm>
            <a:off x="365760" y="1170432"/>
            <a:ext cx="8412480" cy="1664208"/>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6" name="Shape 3"/>
          <p:cNvSpPr/>
          <p:nvPr/>
        </p:nvSpPr>
        <p:spPr>
          <a:xfrm>
            <a:off x="365760" y="1170432"/>
            <a:ext cx="8412480" cy="54864"/>
          </a:xfrm>
          <a:prstGeom prst="rect">
            <a:avLst/>
          </a:prstGeom>
          <a:solidFill>
            <a:srgbClr val="E91E8C"/>
          </a:solidFill>
          <a:ln w="12700">
            <a:solidFill>
              <a:srgbClr val="E91E8C"/>
            </a:solidFill>
            <a:prstDash val="solid"/>
          </a:ln>
        </p:spPr>
      </p:sp>
      <p:sp>
        <p:nvSpPr>
          <p:cNvPr id="7" name="Shape 4"/>
          <p:cNvSpPr/>
          <p:nvPr/>
        </p:nvSpPr>
        <p:spPr>
          <a:xfrm>
            <a:off x="594360" y="1316736"/>
            <a:ext cx="822960" cy="256032"/>
          </a:xfrm>
          <a:prstGeom prst="rect">
            <a:avLst/>
          </a:prstGeom>
          <a:solidFill>
            <a:srgbClr val="E91E8C"/>
          </a:solidFill>
          <a:ln w="12700">
            <a:solidFill>
              <a:srgbClr val="E91E8C"/>
            </a:solidFill>
            <a:prstDash val="solid"/>
          </a:ln>
        </p:spPr>
      </p:sp>
      <p:sp>
        <p:nvSpPr>
          <p:cNvPr id="8" name="Text 5"/>
          <p:cNvSpPr/>
          <p:nvPr/>
        </p:nvSpPr>
        <p:spPr>
          <a:xfrm>
            <a:off x="594360" y="1316736"/>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18" charset="0"/>
                <a:ea typeface="Calibri" pitchFamily="34" charset="-122"/>
                <a:cs typeface="Times New Roman" pitchFamily="18" charset="0"/>
              </a:rPr>
              <a:t>PHYS2200</a:t>
            </a:r>
            <a:endParaRPr lang="en-US" sz="900" dirty="0">
              <a:latin typeface="Times New Roman" pitchFamily="18" charset="0"/>
              <a:cs typeface="Times New Roman" pitchFamily="18" charset="0"/>
            </a:endParaRPr>
          </a:p>
        </p:txBody>
      </p:sp>
      <p:sp>
        <p:nvSpPr>
          <p:cNvPr id="9" name="Text 6"/>
          <p:cNvSpPr/>
          <p:nvPr/>
        </p:nvSpPr>
        <p:spPr>
          <a:xfrm>
            <a:off x="1508760" y="1298448"/>
            <a:ext cx="5120640" cy="292608"/>
          </a:xfrm>
          <a:prstGeom prst="rect">
            <a:avLst/>
          </a:prstGeom>
          <a:noFill/>
          <a:ln/>
        </p:spPr>
        <p:txBody>
          <a:bodyPr wrap="square" lIns="0" tIns="0" rIns="0" bIns="0" rtlCol="0" anchor="ctr"/>
          <a:lstStyle/>
          <a:p>
            <a:pPr marL="0" indent="0">
              <a:buNone/>
            </a:pPr>
            <a:r>
              <a:rPr lang="en-US" sz="1400" b="1" dirty="0">
                <a:solidFill>
                  <a:srgbClr val="212121"/>
                </a:solidFill>
                <a:latin typeface="Times New Roman" pitchFamily="18" charset="0"/>
                <a:ea typeface="Calibri" pitchFamily="34" charset="-122"/>
                <a:cs typeface="Times New Roman" pitchFamily="18" charset="0"/>
              </a:rPr>
              <a:t>Dosimetry Systems Evaluation</a:t>
            </a:r>
            <a:endParaRPr lang="en-US" sz="1400" dirty="0">
              <a:latin typeface="Times New Roman" pitchFamily="18" charset="0"/>
              <a:cs typeface="Times New Roman" pitchFamily="18" charset="0"/>
            </a:endParaRPr>
          </a:p>
        </p:txBody>
      </p:sp>
      <p:sp>
        <p:nvSpPr>
          <p:cNvPr id="10" name="Text 7"/>
          <p:cNvSpPr/>
          <p:nvPr/>
        </p:nvSpPr>
        <p:spPr>
          <a:xfrm>
            <a:off x="594360" y="1645920"/>
            <a:ext cx="7955280" cy="594360"/>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Evaluated the accuracy and reliability of TLDs, ionisation chambers, and film dosimetry systems used in radiotherapy planning. First hands-on exposure to dosimetric methods in clinical settings.</a:t>
            </a:r>
            <a:endParaRPr lang="en-US" sz="1100" dirty="0">
              <a:latin typeface="Times New Roman" pitchFamily="18" charset="0"/>
              <a:cs typeface="Times New Roman" pitchFamily="18" charset="0"/>
            </a:endParaRPr>
          </a:p>
        </p:txBody>
      </p:sp>
      <p:sp>
        <p:nvSpPr>
          <p:cNvPr id="11" name="Shape 8"/>
          <p:cNvSpPr/>
          <p:nvPr/>
        </p:nvSpPr>
        <p:spPr>
          <a:xfrm>
            <a:off x="594360" y="2468880"/>
            <a:ext cx="1325880" cy="237744"/>
          </a:xfrm>
          <a:prstGeom prst="rect">
            <a:avLst/>
          </a:prstGeom>
          <a:solidFill>
            <a:srgbClr val="FFF0F5"/>
          </a:solidFill>
          <a:ln w="12700">
            <a:solidFill>
              <a:srgbClr val="E91E8C"/>
            </a:solidFill>
            <a:prstDash val="solid"/>
          </a:ln>
        </p:spPr>
      </p:sp>
      <p:sp>
        <p:nvSpPr>
          <p:cNvPr id="12" name="Text 9"/>
          <p:cNvSpPr/>
          <p:nvPr/>
        </p:nvSpPr>
        <p:spPr>
          <a:xfrm>
            <a:off x="594360" y="2468880"/>
            <a:ext cx="1325880" cy="237744"/>
          </a:xfrm>
          <a:prstGeom prst="rect">
            <a:avLst/>
          </a:prstGeom>
          <a:noFill/>
          <a:ln/>
        </p:spPr>
        <p:txBody>
          <a:bodyPr wrap="square" lIns="0" tIns="0" rIns="0" bIns="0" rtlCol="0" anchor="ctr"/>
          <a:lstStyle/>
          <a:p>
            <a:pPr marL="0" indent="0" algn="ctr">
              <a:buNone/>
            </a:pPr>
            <a:r>
              <a:rPr lang="en-US" sz="900" dirty="0">
                <a:solidFill>
                  <a:srgbClr val="C2185B"/>
                </a:solidFill>
                <a:latin typeface="Times New Roman" pitchFamily="18" charset="0"/>
                <a:ea typeface="Calibri" pitchFamily="34" charset="-122"/>
                <a:cs typeface="Times New Roman" pitchFamily="18" charset="0"/>
              </a:rPr>
              <a:t>Dosimetry</a:t>
            </a:r>
            <a:endParaRPr lang="en-US" sz="900" dirty="0">
              <a:latin typeface="Times New Roman" pitchFamily="18" charset="0"/>
              <a:cs typeface="Times New Roman" pitchFamily="18" charset="0"/>
            </a:endParaRPr>
          </a:p>
        </p:txBody>
      </p:sp>
      <p:sp>
        <p:nvSpPr>
          <p:cNvPr id="13" name="Shape 10"/>
          <p:cNvSpPr/>
          <p:nvPr/>
        </p:nvSpPr>
        <p:spPr>
          <a:xfrm>
            <a:off x="2057400" y="2468880"/>
            <a:ext cx="1325880" cy="237744"/>
          </a:xfrm>
          <a:prstGeom prst="rect">
            <a:avLst/>
          </a:prstGeom>
          <a:solidFill>
            <a:srgbClr val="FFF0F5"/>
          </a:solidFill>
          <a:ln w="12700">
            <a:solidFill>
              <a:srgbClr val="E91E8C"/>
            </a:solidFill>
            <a:prstDash val="solid"/>
          </a:ln>
        </p:spPr>
      </p:sp>
      <p:sp>
        <p:nvSpPr>
          <p:cNvPr id="14" name="Text 11"/>
          <p:cNvSpPr/>
          <p:nvPr/>
        </p:nvSpPr>
        <p:spPr>
          <a:xfrm>
            <a:off x="2057400" y="2468880"/>
            <a:ext cx="1325880" cy="237744"/>
          </a:xfrm>
          <a:prstGeom prst="rect">
            <a:avLst/>
          </a:prstGeom>
          <a:noFill/>
          <a:ln/>
        </p:spPr>
        <p:txBody>
          <a:bodyPr wrap="square" lIns="0" tIns="0" rIns="0" bIns="0" rtlCol="0" anchor="ctr"/>
          <a:lstStyle/>
          <a:p>
            <a:pPr marL="0" indent="0" algn="ctr">
              <a:buNone/>
            </a:pPr>
            <a:r>
              <a:rPr lang="en-US" sz="900" dirty="0">
                <a:solidFill>
                  <a:srgbClr val="C2185B"/>
                </a:solidFill>
                <a:latin typeface="Times New Roman" pitchFamily="18" charset="0"/>
                <a:ea typeface="Calibri" pitchFamily="34" charset="-122"/>
                <a:cs typeface="Times New Roman" pitchFamily="18" charset="0"/>
              </a:rPr>
              <a:t>Radiotherapy</a:t>
            </a:r>
            <a:endParaRPr lang="en-US" sz="900" dirty="0">
              <a:latin typeface="Times New Roman" pitchFamily="18" charset="0"/>
              <a:cs typeface="Times New Roman" pitchFamily="18" charset="0"/>
            </a:endParaRPr>
          </a:p>
        </p:txBody>
      </p:sp>
      <p:sp>
        <p:nvSpPr>
          <p:cNvPr id="15" name="Shape 12"/>
          <p:cNvSpPr/>
          <p:nvPr/>
        </p:nvSpPr>
        <p:spPr>
          <a:xfrm>
            <a:off x="3520440" y="2468880"/>
            <a:ext cx="1325880" cy="237744"/>
          </a:xfrm>
          <a:prstGeom prst="rect">
            <a:avLst/>
          </a:prstGeom>
          <a:solidFill>
            <a:srgbClr val="FFF0F5"/>
          </a:solidFill>
          <a:ln w="12700">
            <a:solidFill>
              <a:srgbClr val="E91E8C"/>
            </a:solidFill>
            <a:prstDash val="solid"/>
          </a:ln>
        </p:spPr>
      </p:sp>
      <p:sp>
        <p:nvSpPr>
          <p:cNvPr id="16" name="Text 13"/>
          <p:cNvSpPr/>
          <p:nvPr/>
        </p:nvSpPr>
        <p:spPr>
          <a:xfrm>
            <a:off x="3520440" y="2468880"/>
            <a:ext cx="1325880" cy="237744"/>
          </a:xfrm>
          <a:prstGeom prst="rect">
            <a:avLst/>
          </a:prstGeom>
          <a:noFill/>
          <a:ln/>
        </p:spPr>
        <p:txBody>
          <a:bodyPr wrap="square" lIns="0" tIns="0" rIns="0" bIns="0" rtlCol="0" anchor="ctr"/>
          <a:lstStyle/>
          <a:p>
            <a:pPr marL="0" indent="0" algn="ctr">
              <a:buNone/>
            </a:pPr>
            <a:r>
              <a:rPr lang="en-US" sz="900" dirty="0">
                <a:solidFill>
                  <a:srgbClr val="C2185B"/>
                </a:solidFill>
                <a:latin typeface="Times New Roman" pitchFamily="18" charset="0"/>
                <a:ea typeface="Calibri" pitchFamily="34" charset="-122"/>
                <a:cs typeface="Times New Roman" pitchFamily="18" charset="0"/>
              </a:rPr>
              <a:t>Lab Research</a:t>
            </a:r>
            <a:endParaRPr lang="en-US" sz="900" dirty="0">
              <a:latin typeface="Times New Roman" pitchFamily="18" charset="0"/>
              <a:cs typeface="Times New Roman" pitchFamily="18" charset="0"/>
            </a:endParaRPr>
          </a:p>
        </p:txBody>
      </p:sp>
      <p:sp>
        <p:nvSpPr>
          <p:cNvPr id="17" name="Shape 14"/>
          <p:cNvSpPr/>
          <p:nvPr/>
        </p:nvSpPr>
        <p:spPr>
          <a:xfrm>
            <a:off x="365760" y="3044952"/>
            <a:ext cx="8412480" cy="1664208"/>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8" name="Shape 15"/>
          <p:cNvSpPr/>
          <p:nvPr/>
        </p:nvSpPr>
        <p:spPr>
          <a:xfrm>
            <a:off x="365760" y="3044952"/>
            <a:ext cx="8412480" cy="54864"/>
          </a:xfrm>
          <a:prstGeom prst="rect">
            <a:avLst/>
          </a:prstGeom>
          <a:solidFill>
            <a:srgbClr val="7B1FA2"/>
          </a:solidFill>
          <a:ln w="12700">
            <a:solidFill>
              <a:srgbClr val="7B1FA2"/>
            </a:solidFill>
            <a:prstDash val="solid"/>
          </a:ln>
        </p:spPr>
      </p:sp>
      <p:sp>
        <p:nvSpPr>
          <p:cNvPr id="19" name="Shape 16"/>
          <p:cNvSpPr/>
          <p:nvPr/>
        </p:nvSpPr>
        <p:spPr>
          <a:xfrm>
            <a:off x="594360" y="3191256"/>
            <a:ext cx="822960" cy="256032"/>
          </a:xfrm>
          <a:prstGeom prst="rect">
            <a:avLst/>
          </a:prstGeom>
          <a:solidFill>
            <a:srgbClr val="4A148C"/>
          </a:solidFill>
          <a:ln w="12700">
            <a:solidFill>
              <a:srgbClr val="4A148C"/>
            </a:solidFill>
            <a:prstDash val="solid"/>
          </a:ln>
        </p:spPr>
      </p:sp>
      <p:sp>
        <p:nvSpPr>
          <p:cNvPr id="20" name="Text 17"/>
          <p:cNvSpPr/>
          <p:nvPr/>
        </p:nvSpPr>
        <p:spPr>
          <a:xfrm>
            <a:off x="594360" y="3191256"/>
            <a:ext cx="8229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Times New Roman" pitchFamily="18" charset="0"/>
                <a:ea typeface="Calibri" pitchFamily="34" charset="-122"/>
                <a:cs typeface="Times New Roman" pitchFamily="18" charset="0"/>
              </a:rPr>
              <a:t>PHYS3399</a:t>
            </a:r>
            <a:endParaRPr lang="en-US" sz="900" dirty="0">
              <a:latin typeface="Times New Roman" pitchFamily="18" charset="0"/>
              <a:cs typeface="Times New Roman" pitchFamily="18" charset="0"/>
            </a:endParaRPr>
          </a:p>
        </p:txBody>
      </p:sp>
      <p:sp>
        <p:nvSpPr>
          <p:cNvPr id="21" name="Text 18"/>
          <p:cNvSpPr/>
          <p:nvPr/>
        </p:nvSpPr>
        <p:spPr>
          <a:xfrm>
            <a:off x="1508760" y="3172968"/>
            <a:ext cx="5120640" cy="292608"/>
          </a:xfrm>
          <a:prstGeom prst="rect">
            <a:avLst/>
          </a:prstGeom>
          <a:noFill/>
          <a:ln/>
        </p:spPr>
        <p:txBody>
          <a:bodyPr wrap="square" lIns="0" tIns="0" rIns="0" bIns="0" rtlCol="0" anchor="ctr"/>
          <a:lstStyle/>
          <a:p>
            <a:pPr marL="0" indent="0">
              <a:buNone/>
            </a:pPr>
            <a:r>
              <a:rPr lang="en-US" sz="1400" b="1" dirty="0">
                <a:solidFill>
                  <a:srgbClr val="212121"/>
                </a:solidFill>
                <a:latin typeface="Times New Roman" pitchFamily="18" charset="0"/>
                <a:ea typeface="Calibri" pitchFamily="34" charset="-122"/>
                <a:cs typeface="Times New Roman" pitchFamily="18" charset="0"/>
              </a:rPr>
              <a:t>Assistive Glucose Monitor for Visual Impairment</a:t>
            </a:r>
            <a:endParaRPr lang="en-US" sz="1400" dirty="0">
              <a:latin typeface="Times New Roman" pitchFamily="18" charset="0"/>
              <a:cs typeface="Times New Roman" pitchFamily="18" charset="0"/>
            </a:endParaRPr>
          </a:p>
        </p:txBody>
      </p:sp>
      <p:sp>
        <p:nvSpPr>
          <p:cNvPr id="22" name="Text 19"/>
          <p:cNvSpPr/>
          <p:nvPr/>
        </p:nvSpPr>
        <p:spPr>
          <a:xfrm>
            <a:off x="6858000" y="3172968"/>
            <a:ext cx="1737360" cy="292608"/>
          </a:xfrm>
          <a:prstGeom prst="rect">
            <a:avLst/>
          </a:prstGeom>
          <a:noFill/>
          <a:ln/>
        </p:spPr>
        <p:txBody>
          <a:bodyPr wrap="square" lIns="0" tIns="0" rIns="0" bIns="0" rtlCol="0" anchor="ctr"/>
          <a:lstStyle/>
          <a:p>
            <a:pPr marL="0" indent="0" algn="r">
              <a:buNone/>
            </a:pPr>
            <a:r>
              <a:rPr lang="en-US" sz="1200" b="1" dirty="0">
                <a:solidFill>
                  <a:srgbClr val="7B1FA2"/>
                </a:solidFill>
                <a:latin typeface="Times New Roman" pitchFamily="18" charset="0"/>
                <a:ea typeface="Calibri" pitchFamily="34" charset="-122"/>
                <a:cs typeface="Times New Roman" pitchFamily="18" charset="0"/>
              </a:rPr>
              <a:t>Grade: A-</a:t>
            </a:r>
            <a:endParaRPr lang="en-US" sz="1200" dirty="0">
              <a:latin typeface="Times New Roman" pitchFamily="18" charset="0"/>
              <a:cs typeface="Times New Roman" pitchFamily="18" charset="0"/>
            </a:endParaRPr>
          </a:p>
        </p:txBody>
      </p:sp>
      <p:sp>
        <p:nvSpPr>
          <p:cNvPr id="23" name="Text 20"/>
          <p:cNvSpPr/>
          <p:nvPr/>
        </p:nvSpPr>
        <p:spPr>
          <a:xfrm>
            <a:off x="594360" y="3520440"/>
            <a:ext cx="7955280" cy="594360"/>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Designed and built a working mobile application for visually impaired blood glucose monitoring. Taught myself Dart and the Flutter framework to complete the full build as originally scoped.</a:t>
            </a:r>
            <a:endParaRPr lang="en-US" sz="1100" dirty="0">
              <a:latin typeface="Times New Roman" pitchFamily="18" charset="0"/>
              <a:cs typeface="Times New Roman" pitchFamily="18" charset="0"/>
            </a:endParaRPr>
          </a:p>
        </p:txBody>
      </p:sp>
      <p:sp>
        <p:nvSpPr>
          <p:cNvPr id="24" name="Shape 21"/>
          <p:cNvSpPr/>
          <p:nvPr/>
        </p:nvSpPr>
        <p:spPr>
          <a:xfrm>
            <a:off x="594360" y="4343400"/>
            <a:ext cx="1325880" cy="237744"/>
          </a:xfrm>
          <a:prstGeom prst="rect">
            <a:avLst/>
          </a:prstGeom>
          <a:solidFill>
            <a:srgbClr val="EDE7F6"/>
          </a:solidFill>
          <a:ln w="12700">
            <a:solidFill>
              <a:srgbClr val="7B1FA2"/>
            </a:solidFill>
            <a:prstDash val="solid"/>
          </a:ln>
        </p:spPr>
      </p:sp>
      <p:sp>
        <p:nvSpPr>
          <p:cNvPr id="25" name="Text 22"/>
          <p:cNvSpPr/>
          <p:nvPr/>
        </p:nvSpPr>
        <p:spPr>
          <a:xfrm>
            <a:off x="594360" y="4343400"/>
            <a:ext cx="1325880" cy="237744"/>
          </a:xfrm>
          <a:prstGeom prst="rect">
            <a:avLst/>
          </a:prstGeom>
          <a:noFill/>
          <a:ln/>
        </p:spPr>
        <p:txBody>
          <a:bodyPr wrap="square" lIns="0" tIns="0" rIns="0" bIns="0" rtlCol="0" anchor="ctr"/>
          <a:lstStyle/>
          <a:p>
            <a:pPr marL="0" indent="0" algn="ctr">
              <a:buNone/>
            </a:pPr>
            <a:r>
              <a:rPr lang="en-US" sz="900" dirty="0">
                <a:solidFill>
                  <a:srgbClr val="7B1FA2"/>
                </a:solidFill>
                <a:latin typeface="Times New Roman" pitchFamily="18" charset="0"/>
                <a:ea typeface="Calibri" pitchFamily="34" charset="-122"/>
                <a:cs typeface="Times New Roman" pitchFamily="18" charset="0"/>
              </a:rPr>
              <a:t>Mobile Dev</a:t>
            </a:r>
            <a:endParaRPr lang="en-US" sz="900" dirty="0">
              <a:latin typeface="Times New Roman" pitchFamily="18" charset="0"/>
              <a:cs typeface="Times New Roman" pitchFamily="18" charset="0"/>
            </a:endParaRPr>
          </a:p>
        </p:txBody>
      </p:sp>
      <p:sp>
        <p:nvSpPr>
          <p:cNvPr id="26" name="Shape 23"/>
          <p:cNvSpPr/>
          <p:nvPr/>
        </p:nvSpPr>
        <p:spPr>
          <a:xfrm>
            <a:off x="2057400" y="4343400"/>
            <a:ext cx="1325880" cy="237744"/>
          </a:xfrm>
          <a:prstGeom prst="rect">
            <a:avLst/>
          </a:prstGeom>
          <a:solidFill>
            <a:srgbClr val="EDE7F6"/>
          </a:solidFill>
          <a:ln w="12700">
            <a:solidFill>
              <a:srgbClr val="7B1FA2"/>
            </a:solidFill>
            <a:prstDash val="solid"/>
          </a:ln>
        </p:spPr>
      </p:sp>
      <p:sp>
        <p:nvSpPr>
          <p:cNvPr id="27" name="Text 24"/>
          <p:cNvSpPr/>
          <p:nvPr/>
        </p:nvSpPr>
        <p:spPr>
          <a:xfrm>
            <a:off x="2057400" y="4343400"/>
            <a:ext cx="1325880" cy="237744"/>
          </a:xfrm>
          <a:prstGeom prst="rect">
            <a:avLst/>
          </a:prstGeom>
          <a:noFill/>
          <a:ln/>
        </p:spPr>
        <p:txBody>
          <a:bodyPr wrap="square" lIns="0" tIns="0" rIns="0" bIns="0" rtlCol="0" anchor="ctr"/>
          <a:lstStyle/>
          <a:p>
            <a:pPr marL="0" indent="0" algn="ctr">
              <a:buNone/>
            </a:pPr>
            <a:r>
              <a:rPr lang="en-US" sz="900" dirty="0">
                <a:solidFill>
                  <a:srgbClr val="7B1FA2"/>
                </a:solidFill>
                <a:latin typeface="Times New Roman" pitchFamily="18" charset="0"/>
                <a:ea typeface="Calibri" pitchFamily="34" charset="-122"/>
                <a:cs typeface="Times New Roman" pitchFamily="18" charset="0"/>
              </a:rPr>
              <a:t>Dart / Flutter</a:t>
            </a:r>
            <a:endParaRPr lang="en-US" sz="900" dirty="0">
              <a:latin typeface="Times New Roman" pitchFamily="18" charset="0"/>
              <a:cs typeface="Times New Roman" pitchFamily="18" charset="0"/>
            </a:endParaRPr>
          </a:p>
        </p:txBody>
      </p:sp>
      <p:sp>
        <p:nvSpPr>
          <p:cNvPr id="28" name="Shape 25"/>
          <p:cNvSpPr/>
          <p:nvPr/>
        </p:nvSpPr>
        <p:spPr>
          <a:xfrm>
            <a:off x="3520440" y="4343400"/>
            <a:ext cx="1325880" cy="237744"/>
          </a:xfrm>
          <a:prstGeom prst="rect">
            <a:avLst/>
          </a:prstGeom>
          <a:solidFill>
            <a:srgbClr val="EDE7F6"/>
          </a:solidFill>
          <a:ln w="12700">
            <a:solidFill>
              <a:srgbClr val="7B1FA2"/>
            </a:solidFill>
            <a:prstDash val="solid"/>
          </a:ln>
        </p:spPr>
      </p:sp>
      <p:sp>
        <p:nvSpPr>
          <p:cNvPr id="29" name="Text 26"/>
          <p:cNvSpPr/>
          <p:nvPr/>
        </p:nvSpPr>
        <p:spPr>
          <a:xfrm>
            <a:off x="3520440" y="4343400"/>
            <a:ext cx="1325880" cy="237744"/>
          </a:xfrm>
          <a:prstGeom prst="rect">
            <a:avLst/>
          </a:prstGeom>
          <a:noFill/>
          <a:ln/>
        </p:spPr>
        <p:txBody>
          <a:bodyPr wrap="square" lIns="0" tIns="0" rIns="0" bIns="0" rtlCol="0" anchor="ctr"/>
          <a:lstStyle/>
          <a:p>
            <a:pPr marL="0" indent="0" algn="ctr">
              <a:buNone/>
            </a:pPr>
            <a:r>
              <a:rPr lang="en-US" sz="900" dirty="0">
                <a:solidFill>
                  <a:srgbClr val="7B1FA2"/>
                </a:solidFill>
                <a:latin typeface="Times New Roman" pitchFamily="18" charset="0"/>
                <a:ea typeface="Calibri" pitchFamily="34" charset="-122"/>
                <a:cs typeface="Times New Roman" pitchFamily="18" charset="0"/>
              </a:rPr>
              <a:t>Accessibility</a:t>
            </a:r>
            <a:endParaRPr lang="en-US" sz="900" dirty="0">
              <a:latin typeface="Times New Roman" pitchFamily="18" charset="0"/>
              <a:cs typeface="Times New Roman" pitchFamily="18" charset="0"/>
            </a:endParaRPr>
          </a:p>
        </p:txBody>
      </p:sp>
      <p:sp>
        <p:nvSpPr>
          <p:cNvPr id="30" name="Shape 27"/>
          <p:cNvSpPr/>
          <p:nvPr/>
        </p:nvSpPr>
        <p:spPr>
          <a:xfrm>
            <a:off x="4983480" y="4343400"/>
            <a:ext cx="1325880" cy="237744"/>
          </a:xfrm>
          <a:prstGeom prst="rect">
            <a:avLst/>
          </a:prstGeom>
          <a:solidFill>
            <a:srgbClr val="EDE7F6"/>
          </a:solidFill>
          <a:ln w="12700">
            <a:solidFill>
              <a:srgbClr val="7B1FA2"/>
            </a:solidFill>
            <a:prstDash val="solid"/>
          </a:ln>
        </p:spPr>
      </p:sp>
      <p:sp>
        <p:nvSpPr>
          <p:cNvPr id="31" name="Text 28"/>
          <p:cNvSpPr/>
          <p:nvPr/>
        </p:nvSpPr>
        <p:spPr>
          <a:xfrm>
            <a:off x="4983480" y="4343400"/>
            <a:ext cx="1325880" cy="237744"/>
          </a:xfrm>
          <a:prstGeom prst="rect">
            <a:avLst/>
          </a:prstGeom>
          <a:noFill/>
          <a:ln/>
        </p:spPr>
        <p:txBody>
          <a:bodyPr wrap="square" lIns="0" tIns="0" rIns="0" bIns="0" rtlCol="0" anchor="ctr"/>
          <a:lstStyle/>
          <a:p>
            <a:pPr marL="0" indent="0" algn="ctr">
              <a:buNone/>
            </a:pPr>
            <a:r>
              <a:rPr lang="en-US" sz="900" dirty="0">
                <a:solidFill>
                  <a:srgbClr val="7B1FA2"/>
                </a:solidFill>
                <a:latin typeface="Times New Roman" pitchFamily="18" charset="0"/>
                <a:ea typeface="Calibri" pitchFamily="34" charset="-122"/>
                <a:cs typeface="Times New Roman" pitchFamily="18" charset="0"/>
              </a:rPr>
              <a:t>Self-directed</a:t>
            </a:r>
            <a:endParaRPr lang="en-US" sz="9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C2185B"/>
          </a:solidFill>
          <a:ln w="12700">
            <a:solidFill>
              <a:srgbClr val="C2185B"/>
            </a:solidFill>
            <a:prstDash val="solid"/>
          </a:ln>
        </p:spPr>
      </p:sp>
      <p:sp>
        <p:nvSpPr>
          <p:cNvPr id="4" name="Text 1"/>
          <p:cNvSpPr/>
          <p:nvPr/>
        </p:nvSpPr>
        <p:spPr>
          <a:xfrm>
            <a:off x="320040" y="219456"/>
            <a:ext cx="7772400" cy="502920"/>
          </a:xfrm>
          <a:prstGeom prst="rect">
            <a:avLst/>
          </a:prstGeom>
          <a:noFill/>
          <a:ln/>
        </p:spPr>
        <p:txBody>
          <a:bodyPr wrap="square" lIns="0" tIns="0" rIns="0" bIns="0" rtlCol="0" anchor="ctr"/>
          <a:lstStyle/>
          <a:p>
            <a:pPr marL="0" indent="0">
              <a:buNone/>
            </a:pPr>
            <a:r>
              <a:rPr lang="en-US" sz="2400" b="1" kern="0" spc="200" dirty="0">
                <a:solidFill>
                  <a:srgbClr val="FFFFFF"/>
                </a:solidFill>
                <a:latin typeface="Times New Roman" pitchFamily="18" charset="0"/>
                <a:ea typeface="Calibri" pitchFamily="34" charset="-122"/>
                <a:cs typeface="Times New Roman" pitchFamily="18" charset="0"/>
              </a:rPr>
              <a:t>LEADERSHIP AND COMMUNITY</a:t>
            </a:r>
            <a:endParaRPr lang="en-US" sz="2400" dirty="0">
              <a:latin typeface="Times New Roman" pitchFamily="18" charset="0"/>
              <a:cs typeface="Times New Roman" pitchFamily="18" charset="0"/>
            </a:endParaRPr>
          </a:p>
        </p:txBody>
      </p:sp>
      <p:sp>
        <p:nvSpPr>
          <p:cNvPr id="5" name="Shape 2"/>
          <p:cNvSpPr/>
          <p:nvPr/>
        </p:nvSpPr>
        <p:spPr>
          <a:xfrm>
            <a:off x="365760" y="1170432"/>
            <a:ext cx="4023360" cy="1664208"/>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6" name="Shape 3"/>
          <p:cNvSpPr/>
          <p:nvPr/>
        </p:nvSpPr>
        <p:spPr>
          <a:xfrm>
            <a:off x="365760" y="1170432"/>
            <a:ext cx="4023360" cy="54864"/>
          </a:xfrm>
          <a:prstGeom prst="rect">
            <a:avLst/>
          </a:prstGeom>
          <a:solidFill>
            <a:srgbClr val="E91E8C"/>
          </a:solidFill>
          <a:ln w="12700">
            <a:solidFill>
              <a:srgbClr val="E91E8C"/>
            </a:solidFill>
            <a:prstDash val="solid"/>
          </a:ln>
        </p:spPr>
      </p:sp>
      <p:sp>
        <p:nvSpPr>
          <p:cNvPr id="7" name="Text 4"/>
          <p:cNvSpPr/>
          <p:nvPr/>
        </p:nvSpPr>
        <p:spPr>
          <a:xfrm>
            <a:off x="548640" y="1335024"/>
            <a:ext cx="3657600" cy="347472"/>
          </a:xfrm>
          <a:prstGeom prst="rect">
            <a:avLst/>
          </a:prstGeom>
          <a:noFill/>
          <a:ln/>
        </p:spPr>
        <p:txBody>
          <a:bodyPr wrap="square" lIns="0" tIns="0" rIns="0" bIns="0" rtlCol="0" anchor="ctr"/>
          <a:lstStyle/>
          <a:p>
            <a:pPr marL="0" indent="0">
              <a:buNone/>
            </a:pPr>
            <a:r>
              <a:rPr lang="en-US" sz="1300" b="1" dirty="0">
                <a:solidFill>
                  <a:srgbClr val="212121"/>
                </a:solidFill>
                <a:latin typeface="Times New Roman" pitchFamily="18" charset="0"/>
                <a:ea typeface="Calibri" pitchFamily="34" charset="-122"/>
                <a:cs typeface="Times New Roman" pitchFamily="18" charset="0"/>
              </a:rPr>
              <a:t>Vice President</a:t>
            </a:r>
            <a:endParaRPr lang="en-US" sz="1300" dirty="0">
              <a:latin typeface="Times New Roman" pitchFamily="18" charset="0"/>
              <a:cs typeface="Times New Roman" pitchFamily="18" charset="0"/>
            </a:endParaRPr>
          </a:p>
        </p:txBody>
      </p:sp>
      <p:sp>
        <p:nvSpPr>
          <p:cNvPr id="8" name="Text 5"/>
          <p:cNvSpPr/>
          <p:nvPr/>
        </p:nvSpPr>
        <p:spPr>
          <a:xfrm>
            <a:off x="548640" y="1673352"/>
            <a:ext cx="3657600" cy="237744"/>
          </a:xfrm>
          <a:prstGeom prst="rect">
            <a:avLst/>
          </a:prstGeom>
          <a:noFill/>
          <a:ln/>
        </p:spPr>
        <p:txBody>
          <a:bodyPr wrap="square" lIns="0" tIns="0" rIns="0" bIns="0" rtlCol="0" anchor="ctr"/>
          <a:lstStyle/>
          <a:p>
            <a:pPr marL="0" indent="0">
              <a:buNone/>
            </a:pPr>
            <a:r>
              <a:rPr lang="en-US" sz="1050" i="1" dirty="0">
                <a:solidFill>
                  <a:srgbClr val="E91E8C"/>
                </a:solidFill>
                <a:latin typeface="Times New Roman" pitchFamily="18" charset="0"/>
                <a:ea typeface="Calibri" pitchFamily="34" charset="-122"/>
                <a:cs typeface="Times New Roman" pitchFamily="18" charset="0"/>
              </a:rPr>
              <a:t>Medical Physics Club, UWI</a:t>
            </a:r>
            <a:endParaRPr lang="en-US" sz="1050" dirty="0">
              <a:latin typeface="Times New Roman" pitchFamily="18" charset="0"/>
              <a:cs typeface="Times New Roman" pitchFamily="18" charset="0"/>
            </a:endParaRPr>
          </a:p>
        </p:txBody>
      </p:sp>
      <p:sp>
        <p:nvSpPr>
          <p:cNvPr id="9" name="Shape 6"/>
          <p:cNvSpPr/>
          <p:nvPr/>
        </p:nvSpPr>
        <p:spPr>
          <a:xfrm>
            <a:off x="548640" y="1938528"/>
            <a:ext cx="3474720" cy="18288"/>
          </a:xfrm>
          <a:prstGeom prst="rect">
            <a:avLst/>
          </a:prstGeom>
          <a:solidFill>
            <a:srgbClr val="F3E5F5"/>
          </a:solidFill>
          <a:ln w="12700">
            <a:solidFill>
              <a:srgbClr val="F3E5F5"/>
            </a:solidFill>
            <a:prstDash val="solid"/>
          </a:ln>
        </p:spPr>
      </p:sp>
      <p:sp>
        <p:nvSpPr>
          <p:cNvPr id="10" name="Text 7"/>
          <p:cNvSpPr/>
          <p:nvPr/>
        </p:nvSpPr>
        <p:spPr>
          <a:xfrm>
            <a:off x="548640" y="2011680"/>
            <a:ext cx="3657600" cy="685800"/>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Represented student interests, coordinated club activities, and supported the medical physics community on campus.</a:t>
            </a:r>
            <a:endParaRPr lang="en-US" sz="1100" dirty="0">
              <a:latin typeface="Times New Roman" pitchFamily="18" charset="0"/>
              <a:cs typeface="Times New Roman" pitchFamily="18" charset="0"/>
            </a:endParaRPr>
          </a:p>
        </p:txBody>
      </p:sp>
      <p:sp>
        <p:nvSpPr>
          <p:cNvPr id="11" name="Shape 8"/>
          <p:cNvSpPr/>
          <p:nvPr/>
        </p:nvSpPr>
        <p:spPr>
          <a:xfrm>
            <a:off x="365760" y="3044952"/>
            <a:ext cx="4023360" cy="1664208"/>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2" name="Shape 9"/>
          <p:cNvSpPr/>
          <p:nvPr/>
        </p:nvSpPr>
        <p:spPr>
          <a:xfrm>
            <a:off x="365760" y="3044952"/>
            <a:ext cx="4023360" cy="54864"/>
          </a:xfrm>
          <a:prstGeom prst="rect">
            <a:avLst/>
          </a:prstGeom>
          <a:solidFill>
            <a:srgbClr val="7B1FA2"/>
          </a:solidFill>
          <a:ln w="12700">
            <a:solidFill>
              <a:srgbClr val="7B1FA2"/>
            </a:solidFill>
            <a:prstDash val="solid"/>
          </a:ln>
        </p:spPr>
      </p:sp>
      <p:sp>
        <p:nvSpPr>
          <p:cNvPr id="13" name="Text 10"/>
          <p:cNvSpPr/>
          <p:nvPr/>
        </p:nvSpPr>
        <p:spPr>
          <a:xfrm>
            <a:off x="548640" y="3209544"/>
            <a:ext cx="3657600" cy="347472"/>
          </a:xfrm>
          <a:prstGeom prst="rect">
            <a:avLst/>
          </a:prstGeom>
          <a:noFill/>
          <a:ln/>
        </p:spPr>
        <p:txBody>
          <a:bodyPr wrap="square" lIns="0" tIns="0" rIns="0" bIns="0" rtlCol="0" anchor="ctr"/>
          <a:lstStyle/>
          <a:p>
            <a:pPr marL="0" indent="0">
              <a:buNone/>
            </a:pPr>
            <a:r>
              <a:rPr lang="en-US" sz="1300" b="1" dirty="0">
                <a:solidFill>
                  <a:srgbClr val="212121"/>
                </a:solidFill>
                <a:latin typeface="Times New Roman" pitchFamily="18" charset="0"/>
                <a:ea typeface="Calibri" pitchFamily="34" charset="-122"/>
                <a:cs typeface="Times New Roman" pitchFamily="18" charset="0"/>
              </a:rPr>
              <a:t>Physics Subcommittee Events Coordinator</a:t>
            </a:r>
            <a:endParaRPr lang="en-US" sz="1300" dirty="0">
              <a:latin typeface="Times New Roman" pitchFamily="18" charset="0"/>
              <a:cs typeface="Times New Roman" pitchFamily="18" charset="0"/>
            </a:endParaRPr>
          </a:p>
        </p:txBody>
      </p:sp>
      <p:sp>
        <p:nvSpPr>
          <p:cNvPr id="14" name="Text 11"/>
          <p:cNvSpPr/>
          <p:nvPr/>
        </p:nvSpPr>
        <p:spPr>
          <a:xfrm>
            <a:off x="548640" y="3547872"/>
            <a:ext cx="3657600" cy="237744"/>
          </a:xfrm>
          <a:prstGeom prst="rect">
            <a:avLst/>
          </a:prstGeom>
          <a:noFill/>
          <a:ln/>
        </p:spPr>
        <p:txBody>
          <a:bodyPr wrap="square" lIns="0" tIns="0" rIns="0" bIns="0" rtlCol="0" anchor="ctr"/>
          <a:lstStyle/>
          <a:p>
            <a:pPr marL="0" indent="0">
              <a:buNone/>
            </a:pPr>
            <a:r>
              <a:rPr lang="en-US" sz="1050" i="1" dirty="0">
                <a:solidFill>
                  <a:srgbClr val="7B1FA2"/>
                </a:solidFill>
                <a:latin typeface="Times New Roman" pitchFamily="18" charset="0"/>
                <a:ea typeface="Calibri" pitchFamily="34" charset="-122"/>
                <a:cs typeface="Times New Roman" pitchFamily="18" charset="0"/>
              </a:rPr>
              <a:t>UWI  |  3 consecutive terms</a:t>
            </a:r>
            <a:endParaRPr lang="en-US" sz="1050" dirty="0">
              <a:latin typeface="Times New Roman" pitchFamily="18" charset="0"/>
              <a:cs typeface="Times New Roman" pitchFamily="18" charset="0"/>
            </a:endParaRPr>
          </a:p>
        </p:txBody>
      </p:sp>
      <p:sp>
        <p:nvSpPr>
          <p:cNvPr id="15" name="Shape 12"/>
          <p:cNvSpPr/>
          <p:nvPr/>
        </p:nvSpPr>
        <p:spPr>
          <a:xfrm>
            <a:off x="548640" y="3813048"/>
            <a:ext cx="3474720" cy="18288"/>
          </a:xfrm>
          <a:prstGeom prst="rect">
            <a:avLst/>
          </a:prstGeom>
          <a:solidFill>
            <a:srgbClr val="F3E5F5"/>
          </a:solidFill>
          <a:ln w="12700">
            <a:solidFill>
              <a:srgbClr val="F3E5F5"/>
            </a:solidFill>
            <a:prstDash val="solid"/>
          </a:ln>
        </p:spPr>
      </p:sp>
      <p:sp>
        <p:nvSpPr>
          <p:cNvPr id="16" name="Text 13"/>
          <p:cNvSpPr/>
          <p:nvPr/>
        </p:nvSpPr>
        <p:spPr>
          <a:xfrm>
            <a:off x="548640" y="3886200"/>
            <a:ext cx="3657600" cy="685800"/>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Planned and delivered faculty events for three terms, managing logistics, communication, and student participation.</a:t>
            </a:r>
            <a:endParaRPr lang="en-US" sz="1100" dirty="0">
              <a:latin typeface="Times New Roman" pitchFamily="18" charset="0"/>
              <a:cs typeface="Times New Roman" pitchFamily="18" charset="0"/>
            </a:endParaRPr>
          </a:p>
        </p:txBody>
      </p:sp>
      <p:sp>
        <p:nvSpPr>
          <p:cNvPr id="17" name="Shape 14"/>
          <p:cNvSpPr/>
          <p:nvPr/>
        </p:nvSpPr>
        <p:spPr>
          <a:xfrm>
            <a:off x="4846320" y="1170432"/>
            <a:ext cx="4023360" cy="1664208"/>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18" name="Shape 15"/>
          <p:cNvSpPr/>
          <p:nvPr/>
        </p:nvSpPr>
        <p:spPr>
          <a:xfrm>
            <a:off x="4846320" y="1170432"/>
            <a:ext cx="4023360" cy="54864"/>
          </a:xfrm>
          <a:prstGeom prst="rect">
            <a:avLst/>
          </a:prstGeom>
          <a:solidFill>
            <a:srgbClr val="F9A825"/>
          </a:solidFill>
          <a:ln w="12700">
            <a:solidFill>
              <a:srgbClr val="F9A825"/>
            </a:solidFill>
            <a:prstDash val="solid"/>
          </a:ln>
        </p:spPr>
      </p:sp>
      <p:sp>
        <p:nvSpPr>
          <p:cNvPr id="19" name="Text 16"/>
          <p:cNvSpPr/>
          <p:nvPr/>
        </p:nvSpPr>
        <p:spPr>
          <a:xfrm>
            <a:off x="5029200" y="1335024"/>
            <a:ext cx="3657600" cy="347472"/>
          </a:xfrm>
          <a:prstGeom prst="rect">
            <a:avLst/>
          </a:prstGeom>
          <a:noFill/>
          <a:ln/>
        </p:spPr>
        <p:txBody>
          <a:bodyPr wrap="square" lIns="0" tIns="0" rIns="0" bIns="0" rtlCol="0" anchor="ctr"/>
          <a:lstStyle/>
          <a:p>
            <a:pPr marL="0" indent="0">
              <a:buNone/>
            </a:pPr>
            <a:r>
              <a:rPr lang="en-US" sz="1300" b="1" dirty="0">
                <a:solidFill>
                  <a:srgbClr val="212121"/>
                </a:solidFill>
                <a:latin typeface="Times New Roman" pitchFamily="18" charset="0"/>
                <a:ea typeface="Calibri" pitchFamily="34" charset="-122"/>
                <a:cs typeface="Times New Roman" pitchFamily="18" charset="0"/>
              </a:rPr>
              <a:t>Games Committee Chairperson</a:t>
            </a:r>
            <a:endParaRPr lang="en-US" sz="1300" dirty="0">
              <a:latin typeface="Times New Roman" pitchFamily="18" charset="0"/>
              <a:cs typeface="Times New Roman" pitchFamily="18" charset="0"/>
            </a:endParaRPr>
          </a:p>
        </p:txBody>
      </p:sp>
      <p:sp>
        <p:nvSpPr>
          <p:cNvPr id="20" name="Text 17"/>
          <p:cNvSpPr/>
          <p:nvPr/>
        </p:nvSpPr>
        <p:spPr>
          <a:xfrm>
            <a:off x="5029200" y="1673352"/>
            <a:ext cx="3657600" cy="237744"/>
          </a:xfrm>
          <a:prstGeom prst="rect">
            <a:avLst/>
          </a:prstGeom>
          <a:noFill/>
          <a:ln/>
        </p:spPr>
        <p:txBody>
          <a:bodyPr wrap="square" lIns="0" tIns="0" rIns="0" bIns="0" rtlCol="0" anchor="ctr"/>
          <a:lstStyle/>
          <a:p>
            <a:pPr marL="0" indent="0">
              <a:buNone/>
            </a:pPr>
            <a:r>
              <a:rPr lang="en-US" sz="1050" i="1" dirty="0">
                <a:solidFill>
                  <a:srgbClr val="F9A825"/>
                </a:solidFill>
                <a:latin typeface="Times New Roman" pitchFamily="18" charset="0"/>
                <a:ea typeface="Calibri" pitchFamily="34" charset="-122"/>
                <a:cs typeface="Times New Roman" pitchFamily="18" charset="0"/>
              </a:rPr>
              <a:t>Faculty of Science and Technology, UWI</a:t>
            </a:r>
            <a:endParaRPr lang="en-US" sz="1050" dirty="0">
              <a:latin typeface="Times New Roman" pitchFamily="18" charset="0"/>
              <a:cs typeface="Times New Roman" pitchFamily="18" charset="0"/>
            </a:endParaRPr>
          </a:p>
        </p:txBody>
      </p:sp>
      <p:sp>
        <p:nvSpPr>
          <p:cNvPr id="21" name="Shape 18"/>
          <p:cNvSpPr/>
          <p:nvPr/>
        </p:nvSpPr>
        <p:spPr>
          <a:xfrm>
            <a:off x="5029200" y="1938528"/>
            <a:ext cx="3474720" cy="18288"/>
          </a:xfrm>
          <a:prstGeom prst="rect">
            <a:avLst/>
          </a:prstGeom>
          <a:solidFill>
            <a:srgbClr val="F3E5F5"/>
          </a:solidFill>
          <a:ln w="12700">
            <a:solidFill>
              <a:srgbClr val="F3E5F5"/>
            </a:solidFill>
            <a:prstDash val="solid"/>
          </a:ln>
        </p:spPr>
      </p:sp>
      <p:sp>
        <p:nvSpPr>
          <p:cNvPr id="22" name="Text 19"/>
          <p:cNvSpPr/>
          <p:nvPr/>
        </p:nvSpPr>
        <p:spPr>
          <a:xfrm>
            <a:off x="5029200" y="2011680"/>
            <a:ext cx="3657600" cy="685800"/>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Led the faculty games committee, coordinating inter-faculty activities and driving student engagement.</a:t>
            </a:r>
            <a:endParaRPr lang="en-US" sz="1100" dirty="0">
              <a:latin typeface="Times New Roman" pitchFamily="18" charset="0"/>
              <a:cs typeface="Times New Roman" pitchFamily="18" charset="0"/>
            </a:endParaRPr>
          </a:p>
        </p:txBody>
      </p:sp>
      <p:sp>
        <p:nvSpPr>
          <p:cNvPr id="23" name="Shape 20"/>
          <p:cNvSpPr/>
          <p:nvPr/>
        </p:nvSpPr>
        <p:spPr>
          <a:xfrm>
            <a:off x="4846320" y="3044952"/>
            <a:ext cx="4023360" cy="1664208"/>
          </a:xfrm>
          <a:prstGeom prst="rect">
            <a:avLst/>
          </a:prstGeom>
          <a:solidFill>
            <a:srgbClr val="FFFFFF"/>
          </a:solidFill>
          <a:ln w="12700">
            <a:solidFill>
              <a:srgbClr val="F3E5F5"/>
            </a:solidFill>
            <a:prstDash val="solid"/>
          </a:ln>
          <a:effectLst>
            <a:outerShdw blurRad="76200" dist="25400" dir="8100000" algn="bl" rotWithShape="0">
              <a:srgbClr val="000000">
                <a:alpha val="8000"/>
              </a:srgbClr>
            </a:outerShdw>
          </a:effectLst>
        </p:spPr>
      </p:sp>
      <p:sp>
        <p:nvSpPr>
          <p:cNvPr id="24" name="Shape 21"/>
          <p:cNvSpPr/>
          <p:nvPr/>
        </p:nvSpPr>
        <p:spPr>
          <a:xfrm>
            <a:off x="4846320" y="3044952"/>
            <a:ext cx="4023360" cy="54864"/>
          </a:xfrm>
          <a:prstGeom prst="rect">
            <a:avLst/>
          </a:prstGeom>
          <a:solidFill>
            <a:srgbClr val="E91E8C"/>
          </a:solidFill>
          <a:ln w="12700">
            <a:solidFill>
              <a:srgbClr val="E91E8C"/>
            </a:solidFill>
            <a:prstDash val="solid"/>
          </a:ln>
        </p:spPr>
      </p:sp>
      <p:sp>
        <p:nvSpPr>
          <p:cNvPr id="25" name="Text 22"/>
          <p:cNvSpPr/>
          <p:nvPr/>
        </p:nvSpPr>
        <p:spPr>
          <a:xfrm>
            <a:off x="5029200" y="3209544"/>
            <a:ext cx="3657600" cy="347472"/>
          </a:xfrm>
          <a:prstGeom prst="rect">
            <a:avLst/>
          </a:prstGeom>
          <a:noFill/>
          <a:ln/>
        </p:spPr>
        <p:txBody>
          <a:bodyPr wrap="square" lIns="0" tIns="0" rIns="0" bIns="0" rtlCol="0" anchor="ctr"/>
          <a:lstStyle/>
          <a:p>
            <a:pPr marL="0" indent="0">
              <a:buNone/>
            </a:pPr>
            <a:r>
              <a:rPr lang="en-US" sz="1300" b="1" dirty="0">
                <a:solidFill>
                  <a:srgbClr val="212121"/>
                </a:solidFill>
                <a:latin typeface="Times New Roman" pitchFamily="18" charset="0"/>
                <a:ea typeface="Calibri" pitchFamily="34" charset="-122"/>
                <a:cs typeface="Times New Roman" pitchFamily="18" charset="0"/>
              </a:rPr>
              <a:t>Course Representative</a:t>
            </a:r>
            <a:endParaRPr lang="en-US" sz="1300" dirty="0">
              <a:latin typeface="Times New Roman" pitchFamily="18" charset="0"/>
              <a:cs typeface="Times New Roman" pitchFamily="18" charset="0"/>
            </a:endParaRPr>
          </a:p>
        </p:txBody>
      </p:sp>
      <p:sp>
        <p:nvSpPr>
          <p:cNvPr id="26" name="Text 23"/>
          <p:cNvSpPr/>
          <p:nvPr/>
        </p:nvSpPr>
        <p:spPr>
          <a:xfrm>
            <a:off x="5029200" y="3547872"/>
            <a:ext cx="3657600" cy="237744"/>
          </a:xfrm>
          <a:prstGeom prst="rect">
            <a:avLst/>
          </a:prstGeom>
          <a:noFill/>
          <a:ln/>
        </p:spPr>
        <p:txBody>
          <a:bodyPr wrap="square" lIns="0" tIns="0" rIns="0" bIns="0" rtlCol="0" anchor="ctr"/>
          <a:lstStyle/>
          <a:p>
            <a:pPr marL="0" indent="0">
              <a:buNone/>
            </a:pPr>
            <a:r>
              <a:rPr lang="en-US" sz="1050" i="1" dirty="0">
                <a:solidFill>
                  <a:srgbClr val="E91E8C"/>
                </a:solidFill>
                <a:latin typeface="Times New Roman" pitchFamily="18" charset="0"/>
                <a:ea typeface="Calibri" pitchFamily="34" charset="-122"/>
                <a:cs typeface="Times New Roman" pitchFamily="18" charset="0"/>
              </a:rPr>
              <a:t>UWI  |  Over 10 modules</a:t>
            </a:r>
            <a:endParaRPr lang="en-US" sz="1050" dirty="0">
              <a:latin typeface="Times New Roman" pitchFamily="18" charset="0"/>
              <a:cs typeface="Times New Roman" pitchFamily="18" charset="0"/>
            </a:endParaRPr>
          </a:p>
        </p:txBody>
      </p:sp>
      <p:sp>
        <p:nvSpPr>
          <p:cNvPr id="27" name="Shape 24"/>
          <p:cNvSpPr/>
          <p:nvPr/>
        </p:nvSpPr>
        <p:spPr>
          <a:xfrm>
            <a:off x="5029200" y="3813048"/>
            <a:ext cx="3474720" cy="18288"/>
          </a:xfrm>
          <a:prstGeom prst="rect">
            <a:avLst/>
          </a:prstGeom>
          <a:solidFill>
            <a:srgbClr val="F3E5F5"/>
          </a:solidFill>
          <a:ln w="12700">
            <a:solidFill>
              <a:srgbClr val="F3E5F5"/>
            </a:solidFill>
            <a:prstDash val="solid"/>
          </a:ln>
        </p:spPr>
      </p:sp>
      <p:sp>
        <p:nvSpPr>
          <p:cNvPr id="28" name="Text 25"/>
          <p:cNvSpPr/>
          <p:nvPr/>
        </p:nvSpPr>
        <p:spPr>
          <a:xfrm>
            <a:off x="5029200" y="3886200"/>
            <a:ext cx="3657600" cy="685800"/>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Served as the student voice across more than 10 modules, communicating feedback and ensuring students felt supported.</a:t>
            </a:r>
            <a:endParaRPr lang="en-US" sz="11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2185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2000"/>
          </a:blip>
          <a:stretch>
            <a:fillRect/>
          </a:stretch>
        </p:blipFill>
        <p:spPr>
          <a:xfrm>
            <a:off x="5443728" y="365760"/>
            <a:ext cx="3657600" cy="3657600"/>
          </a:xfrm>
          <a:prstGeom prst="rect">
            <a:avLst/>
          </a:prstGeom>
        </p:spPr>
      </p:pic>
      <p:sp>
        <p:nvSpPr>
          <p:cNvPr id="3" name="Text 0"/>
          <p:cNvSpPr/>
          <p:nvPr/>
        </p:nvSpPr>
        <p:spPr>
          <a:xfrm>
            <a:off x="100584" y="103632"/>
            <a:ext cx="8686800" cy="950976"/>
          </a:xfrm>
          <a:prstGeom prst="rect">
            <a:avLst/>
          </a:prstGeom>
          <a:noFill/>
          <a:ln/>
        </p:spPr>
        <p:txBody>
          <a:bodyPr wrap="square" lIns="0" tIns="0" rIns="0" bIns="0" rtlCol="0" anchor="ctr"/>
          <a:lstStyle/>
          <a:p>
            <a:pPr marL="0" indent="0">
              <a:buNone/>
            </a:pPr>
            <a:r>
              <a:rPr lang="en-US" sz="2800" b="1" dirty="0">
                <a:solidFill>
                  <a:srgbClr val="FFFFFF"/>
                </a:solidFill>
                <a:latin typeface="Times New Roman" pitchFamily="18" charset="0"/>
                <a:ea typeface="Calibri" pitchFamily="34" charset="-122"/>
                <a:cs typeface="Times New Roman" pitchFamily="18" charset="0"/>
              </a:rPr>
              <a:t>RESEARCH</a:t>
            </a:r>
            <a:r>
              <a:rPr lang="en-US" sz="3600" b="1" dirty="0">
                <a:solidFill>
                  <a:srgbClr val="FFFFFF"/>
                </a:solidFill>
                <a:latin typeface="Times New Roman" pitchFamily="18" charset="0"/>
                <a:ea typeface="Calibri" pitchFamily="34" charset="-122"/>
                <a:cs typeface="Times New Roman" pitchFamily="18" charset="0"/>
              </a:rPr>
              <a:t> </a:t>
            </a:r>
            <a:r>
              <a:rPr lang="en-US" sz="2800" b="1" dirty="0" smtClean="0">
                <a:solidFill>
                  <a:srgbClr val="FFFFFF"/>
                </a:solidFill>
                <a:latin typeface="Times New Roman" pitchFamily="18" charset="0"/>
                <a:ea typeface="Calibri" pitchFamily="34" charset="-122"/>
                <a:cs typeface="Times New Roman" pitchFamily="18" charset="0"/>
              </a:rPr>
              <a:t>FOCUS</a:t>
            </a:r>
            <a:r>
              <a:rPr lang="en-US" sz="3600" dirty="0">
                <a:latin typeface="Times New Roman" pitchFamily="18" charset="0"/>
                <a:cs typeface="Times New Roman" pitchFamily="18" charset="0"/>
              </a:rPr>
              <a:t> </a:t>
            </a:r>
            <a:r>
              <a:rPr lang="en-US" sz="2800" b="1" dirty="0" smtClean="0">
                <a:solidFill>
                  <a:srgbClr val="FFFFFF"/>
                </a:solidFill>
                <a:latin typeface="Times New Roman" pitchFamily="18" charset="0"/>
                <a:ea typeface="Calibri" pitchFamily="34" charset="-122"/>
                <a:cs typeface="Times New Roman" pitchFamily="18" charset="0"/>
              </a:rPr>
              <a:t>AND </a:t>
            </a:r>
            <a:r>
              <a:rPr lang="en-US" sz="2800" b="1" dirty="0">
                <a:solidFill>
                  <a:srgbClr val="FFFFFF"/>
                </a:solidFill>
                <a:latin typeface="Times New Roman" pitchFamily="18" charset="0"/>
                <a:ea typeface="Calibri" pitchFamily="34" charset="-122"/>
                <a:cs typeface="Times New Roman" pitchFamily="18" charset="0"/>
              </a:rPr>
              <a:t>VISION</a:t>
            </a:r>
            <a:endParaRPr lang="en-US" sz="2800" dirty="0">
              <a:latin typeface="Times New Roman" pitchFamily="18" charset="0"/>
              <a:cs typeface="Times New Roman" pitchFamily="18" charset="0"/>
            </a:endParaRPr>
          </a:p>
        </p:txBody>
      </p:sp>
      <p:sp>
        <p:nvSpPr>
          <p:cNvPr id="4" name="Shape 1"/>
          <p:cNvSpPr/>
          <p:nvPr/>
        </p:nvSpPr>
        <p:spPr>
          <a:xfrm flipV="1">
            <a:off x="100584" y="902206"/>
            <a:ext cx="8382000" cy="45719"/>
          </a:xfrm>
          <a:prstGeom prst="rect">
            <a:avLst/>
          </a:prstGeom>
          <a:solidFill>
            <a:srgbClr val="F9A825"/>
          </a:solidFill>
          <a:ln w="12700">
            <a:solidFill>
              <a:srgbClr val="F9A825"/>
            </a:solidFill>
            <a:prstDash val="solid"/>
          </a:ln>
        </p:spPr>
      </p:sp>
      <p:pic>
        <p:nvPicPr>
          <p:cNvPr id="5" name="Image 1" descr="preencoded.png"/>
          <p:cNvPicPr>
            <a:picLocks noChangeAspect="1"/>
          </p:cNvPicPr>
          <p:nvPr/>
        </p:nvPicPr>
        <p:blipFill>
          <a:blip r:embed="rId4"/>
          <a:stretch>
            <a:fillRect/>
          </a:stretch>
        </p:blipFill>
        <p:spPr>
          <a:xfrm>
            <a:off x="310896" y="1328928"/>
            <a:ext cx="292608" cy="292608"/>
          </a:xfrm>
          <a:prstGeom prst="rect">
            <a:avLst/>
          </a:prstGeom>
        </p:spPr>
      </p:pic>
      <p:sp>
        <p:nvSpPr>
          <p:cNvPr id="6" name="Text 2"/>
          <p:cNvSpPr/>
          <p:nvPr/>
        </p:nvSpPr>
        <p:spPr>
          <a:xfrm>
            <a:off x="749808" y="1328928"/>
            <a:ext cx="4114800" cy="292608"/>
          </a:xfrm>
          <a:prstGeom prst="rect">
            <a:avLst/>
          </a:prstGeom>
          <a:noFill/>
          <a:ln/>
        </p:spPr>
        <p:txBody>
          <a:bodyPr wrap="square" lIns="0" tIns="0" rIns="0" bIns="0" rtlCol="0" anchor="ctr"/>
          <a:lstStyle/>
          <a:p>
            <a:pPr marL="0" indent="0">
              <a:buNone/>
            </a:pPr>
            <a:r>
              <a:rPr lang="en-US" sz="1300" b="1" dirty="0">
                <a:solidFill>
                  <a:srgbClr val="F9A825"/>
                </a:solidFill>
                <a:latin typeface="Times New Roman" pitchFamily="18" charset="0"/>
                <a:ea typeface="Calibri" pitchFamily="34" charset="-122"/>
                <a:cs typeface="Times New Roman" pitchFamily="18" charset="0"/>
              </a:rPr>
              <a:t>Nuclear Medicine</a:t>
            </a:r>
            <a:endParaRPr lang="en-US" sz="1300" dirty="0">
              <a:latin typeface="Times New Roman" pitchFamily="18" charset="0"/>
              <a:cs typeface="Times New Roman" pitchFamily="18" charset="0"/>
            </a:endParaRPr>
          </a:p>
        </p:txBody>
      </p:sp>
      <p:sp>
        <p:nvSpPr>
          <p:cNvPr id="7" name="Text 3"/>
          <p:cNvSpPr/>
          <p:nvPr/>
        </p:nvSpPr>
        <p:spPr>
          <a:xfrm>
            <a:off x="725424" y="1600200"/>
            <a:ext cx="5029200" cy="594360"/>
          </a:xfrm>
          <a:prstGeom prst="rect">
            <a:avLst/>
          </a:prstGeom>
          <a:noFill/>
          <a:ln/>
        </p:spPr>
        <p:txBody>
          <a:bodyPr wrap="square" lIns="0" tIns="0" rIns="0" bIns="0" rtlCol="0" anchor="ctr"/>
          <a:lstStyle/>
          <a:p>
            <a:pPr marL="0" indent="0">
              <a:buNone/>
            </a:pPr>
            <a:r>
              <a:rPr lang="en-US" sz="1100" dirty="0">
                <a:solidFill>
                  <a:srgbClr val="FCE4EC"/>
                </a:solidFill>
                <a:latin typeface="Times New Roman" pitchFamily="18" charset="0"/>
                <a:ea typeface="Calibri" pitchFamily="34" charset="-122"/>
                <a:cs typeface="Times New Roman" pitchFamily="18" charset="0"/>
              </a:rPr>
              <a:t>Exploring how radiotracer uptake in bone metastases from breast cancer can serve as a quantitative treatment response indicator, going beyond visual interpretation of bone scans.</a:t>
            </a:r>
            <a:endParaRPr lang="en-US" sz="1100" dirty="0">
              <a:latin typeface="Times New Roman" pitchFamily="18" charset="0"/>
              <a:cs typeface="Times New Roman" pitchFamily="18" charset="0"/>
            </a:endParaRPr>
          </a:p>
        </p:txBody>
      </p:sp>
      <p:pic>
        <p:nvPicPr>
          <p:cNvPr id="8" name="Image 2" descr="preencoded.png"/>
          <p:cNvPicPr>
            <a:picLocks noChangeAspect="1"/>
          </p:cNvPicPr>
          <p:nvPr/>
        </p:nvPicPr>
        <p:blipFill>
          <a:blip r:embed="rId4"/>
          <a:stretch>
            <a:fillRect/>
          </a:stretch>
        </p:blipFill>
        <p:spPr>
          <a:xfrm>
            <a:off x="310896" y="2353056"/>
            <a:ext cx="292608" cy="292608"/>
          </a:xfrm>
          <a:prstGeom prst="rect">
            <a:avLst/>
          </a:prstGeom>
        </p:spPr>
      </p:pic>
      <p:sp>
        <p:nvSpPr>
          <p:cNvPr id="9" name="Text 4"/>
          <p:cNvSpPr/>
          <p:nvPr/>
        </p:nvSpPr>
        <p:spPr>
          <a:xfrm>
            <a:off x="749808" y="2353056"/>
            <a:ext cx="4114800" cy="292608"/>
          </a:xfrm>
          <a:prstGeom prst="rect">
            <a:avLst/>
          </a:prstGeom>
          <a:noFill/>
          <a:ln/>
        </p:spPr>
        <p:txBody>
          <a:bodyPr wrap="square" lIns="0" tIns="0" rIns="0" bIns="0" rtlCol="0" anchor="ctr"/>
          <a:lstStyle/>
          <a:p>
            <a:pPr marL="0" indent="0">
              <a:buNone/>
            </a:pPr>
            <a:r>
              <a:rPr lang="en-US" sz="1300" b="1" dirty="0">
                <a:solidFill>
                  <a:srgbClr val="F9A825"/>
                </a:solidFill>
                <a:latin typeface="Times New Roman" pitchFamily="18" charset="0"/>
                <a:ea typeface="Calibri" pitchFamily="34" charset="-122"/>
                <a:cs typeface="Times New Roman" pitchFamily="18" charset="0"/>
              </a:rPr>
              <a:t>Radiation Oncology Physics</a:t>
            </a:r>
            <a:endParaRPr lang="en-US" sz="1300" dirty="0">
              <a:latin typeface="Times New Roman" pitchFamily="18" charset="0"/>
              <a:cs typeface="Times New Roman" pitchFamily="18" charset="0"/>
            </a:endParaRPr>
          </a:p>
        </p:txBody>
      </p:sp>
      <p:sp>
        <p:nvSpPr>
          <p:cNvPr id="10" name="Text 5"/>
          <p:cNvSpPr/>
          <p:nvPr/>
        </p:nvSpPr>
        <p:spPr>
          <a:xfrm>
            <a:off x="749808" y="2639568"/>
            <a:ext cx="5029200" cy="594360"/>
          </a:xfrm>
          <a:prstGeom prst="rect">
            <a:avLst/>
          </a:prstGeom>
          <a:noFill/>
          <a:ln/>
        </p:spPr>
        <p:txBody>
          <a:bodyPr wrap="square" lIns="0" tIns="0" rIns="0" bIns="0" rtlCol="0" anchor="ctr"/>
          <a:lstStyle/>
          <a:p>
            <a:pPr marL="0" indent="0">
              <a:buNone/>
            </a:pPr>
            <a:r>
              <a:rPr lang="en-US" sz="1100" dirty="0">
                <a:solidFill>
                  <a:srgbClr val="FCE4EC"/>
                </a:solidFill>
                <a:latin typeface="Times New Roman" pitchFamily="18" charset="0"/>
                <a:ea typeface="Calibri" pitchFamily="34" charset="-122"/>
                <a:cs typeface="Times New Roman" pitchFamily="18" charset="0"/>
              </a:rPr>
              <a:t>Building a foundation in how radiation interacts with bone during treatment planning and the effect on dose accuracy near skeletal structures.</a:t>
            </a:r>
            <a:endParaRPr lang="en-US" sz="1100" dirty="0">
              <a:latin typeface="Times New Roman" pitchFamily="18" charset="0"/>
              <a:cs typeface="Times New Roman" pitchFamily="18" charset="0"/>
            </a:endParaRPr>
          </a:p>
        </p:txBody>
      </p:sp>
      <p:pic>
        <p:nvPicPr>
          <p:cNvPr id="11" name="Image 3" descr="preencoded.png"/>
          <p:cNvPicPr>
            <a:picLocks noChangeAspect="1"/>
          </p:cNvPicPr>
          <p:nvPr/>
        </p:nvPicPr>
        <p:blipFill>
          <a:blip r:embed="rId4"/>
          <a:stretch>
            <a:fillRect/>
          </a:stretch>
        </p:blipFill>
        <p:spPr>
          <a:xfrm>
            <a:off x="310896" y="3456432"/>
            <a:ext cx="292608" cy="292608"/>
          </a:xfrm>
          <a:prstGeom prst="rect">
            <a:avLst/>
          </a:prstGeom>
        </p:spPr>
      </p:pic>
      <p:sp>
        <p:nvSpPr>
          <p:cNvPr id="12" name="Text 6"/>
          <p:cNvSpPr/>
          <p:nvPr/>
        </p:nvSpPr>
        <p:spPr>
          <a:xfrm>
            <a:off x="725424" y="3456432"/>
            <a:ext cx="4114800" cy="292608"/>
          </a:xfrm>
          <a:prstGeom prst="rect">
            <a:avLst/>
          </a:prstGeom>
          <a:noFill/>
          <a:ln/>
        </p:spPr>
        <p:txBody>
          <a:bodyPr wrap="square" lIns="0" tIns="0" rIns="0" bIns="0" rtlCol="0" anchor="ctr"/>
          <a:lstStyle/>
          <a:p>
            <a:pPr marL="0" indent="0">
              <a:buNone/>
            </a:pPr>
            <a:r>
              <a:rPr lang="en-US" sz="1300" b="1" dirty="0">
                <a:solidFill>
                  <a:srgbClr val="F9A825"/>
                </a:solidFill>
                <a:latin typeface="Times New Roman" pitchFamily="18" charset="0"/>
                <a:ea typeface="Calibri" pitchFamily="34" charset="-122"/>
                <a:cs typeface="Times New Roman" pitchFamily="18" charset="0"/>
              </a:rPr>
              <a:t>Caribbean Impact</a:t>
            </a:r>
            <a:endParaRPr lang="en-US" sz="1300" dirty="0">
              <a:latin typeface="Times New Roman" pitchFamily="18" charset="0"/>
              <a:cs typeface="Times New Roman" pitchFamily="18" charset="0"/>
            </a:endParaRPr>
          </a:p>
        </p:txBody>
      </p:sp>
      <p:sp>
        <p:nvSpPr>
          <p:cNvPr id="13" name="Text 7"/>
          <p:cNvSpPr/>
          <p:nvPr/>
        </p:nvSpPr>
        <p:spPr>
          <a:xfrm>
            <a:off x="725424" y="3749040"/>
            <a:ext cx="5029200" cy="594360"/>
          </a:xfrm>
          <a:prstGeom prst="rect">
            <a:avLst/>
          </a:prstGeom>
          <a:noFill/>
          <a:ln/>
        </p:spPr>
        <p:txBody>
          <a:bodyPr wrap="square" lIns="0" tIns="0" rIns="0" bIns="0" rtlCol="0" anchor="ctr"/>
          <a:lstStyle/>
          <a:p>
            <a:pPr marL="0" indent="0">
              <a:buNone/>
            </a:pPr>
            <a:r>
              <a:rPr lang="en-US" sz="1100" dirty="0">
                <a:solidFill>
                  <a:srgbClr val="FCE4EC"/>
                </a:solidFill>
                <a:latin typeface="Times New Roman" pitchFamily="18" charset="0"/>
                <a:ea typeface="Calibri" pitchFamily="34" charset="-122"/>
                <a:cs typeface="Times New Roman" pitchFamily="18" charset="0"/>
              </a:rPr>
              <a:t>From Jamaica, where medical physics capacity has not kept pace with clinical demand. The goal is to bring specialised expertise back to a region where it is needed.</a:t>
            </a:r>
            <a:endParaRPr lang="en-US" sz="11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657600" cy="5143500"/>
          </a:xfrm>
          <a:prstGeom prst="rect">
            <a:avLst/>
          </a:prstGeom>
          <a:solidFill>
            <a:srgbClr val="C2185B"/>
          </a:solidFill>
          <a:ln w="12700">
            <a:solidFill>
              <a:srgbClr val="C2185B"/>
            </a:solidFill>
            <a:prstDash val="solid"/>
          </a:ln>
        </p:spPr>
      </p:sp>
      <p:pic>
        <p:nvPicPr>
          <p:cNvPr id="3" name="Image 0" descr="preencoded.png"/>
          <p:cNvPicPr>
            <a:picLocks noChangeAspect="1"/>
          </p:cNvPicPr>
          <p:nvPr/>
        </p:nvPicPr>
        <p:blipFill>
          <a:blip r:embed="rId3">
            <a:alphaModFix amt="18000"/>
          </a:blip>
          <a:stretch>
            <a:fillRect/>
          </a:stretch>
        </p:blipFill>
        <p:spPr>
          <a:xfrm>
            <a:off x="457200" y="2286000"/>
            <a:ext cx="2743200" cy="2743200"/>
          </a:xfrm>
          <a:prstGeom prst="rect">
            <a:avLst/>
          </a:prstGeom>
        </p:spPr>
      </p:pic>
      <p:sp>
        <p:nvSpPr>
          <p:cNvPr id="4" name="Text 1"/>
          <p:cNvSpPr/>
          <p:nvPr/>
        </p:nvSpPr>
        <p:spPr>
          <a:xfrm>
            <a:off x="274320" y="283464"/>
            <a:ext cx="3108960" cy="1371600"/>
          </a:xfrm>
          <a:prstGeom prst="rect">
            <a:avLst/>
          </a:prstGeom>
          <a:noFill/>
          <a:ln/>
        </p:spPr>
        <p:txBody>
          <a:bodyPr wrap="square" lIns="0" tIns="0" rIns="0" bIns="0" rtlCol="0" anchor="ctr"/>
          <a:lstStyle/>
          <a:p>
            <a:pPr marL="0" indent="0">
              <a:buNone/>
            </a:pPr>
            <a:r>
              <a:rPr lang="en-US" sz="3600" b="1" dirty="0">
                <a:solidFill>
                  <a:srgbClr val="FFFFFF"/>
                </a:solidFill>
                <a:latin typeface="Times New Roman" pitchFamily="18" charset="0"/>
                <a:ea typeface="Calibri" pitchFamily="34" charset="-122"/>
                <a:cs typeface="Times New Roman" pitchFamily="18" charset="0"/>
              </a:rPr>
              <a:t>GET IN</a:t>
            </a:r>
            <a:endParaRPr lang="en-US" sz="3600" dirty="0">
              <a:latin typeface="Times New Roman" pitchFamily="18" charset="0"/>
              <a:cs typeface="Times New Roman" pitchFamily="18" charset="0"/>
            </a:endParaRPr>
          </a:p>
          <a:p>
            <a:pPr marL="0" indent="0">
              <a:buNone/>
            </a:pPr>
            <a:r>
              <a:rPr lang="en-US" sz="3600" b="1" dirty="0" smtClean="0">
                <a:solidFill>
                  <a:srgbClr val="FFFFFF"/>
                </a:solidFill>
                <a:latin typeface="Times New Roman" pitchFamily="18" charset="0"/>
                <a:ea typeface="Calibri" pitchFamily="34" charset="-122"/>
                <a:cs typeface="Times New Roman" pitchFamily="18" charset="0"/>
              </a:rPr>
              <a:t>TOUCH WITH ME </a:t>
            </a:r>
            <a:endParaRPr lang="en-US" sz="3600" dirty="0">
              <a:latin typeface="Times New Roman" pitchFamily="18" charset="0"/>
              <a:cs typeface="Times New Roman" pitchFamily="18" charset="0"/>
            </a:endParaRPr>
          </a:p>
        </p:txBody>
      </p:sp>
      <p:sp>
        <p:nvSpPr>
          <p:cNvPr id="6" name="Text 3"/>
          <p:cNvSpPr/>
          <p:nvPr/>
        </p:nvSpPr>
        <p:spPr>
          <a:xfrm>
            <a:off x="5361432" y="725424"/>
            <a:ext cx="2444496" cy="347472"/>
          </a:xfrm>
          <a:prstGeom prst="rect">
            <a:avLst/>
          </a:prstGeom>
          <a:noFill/>
          <a:ln/>
        </p:spPr>
        <p:txBody>
          <a:bodyPr wrap="square" lIns="0" tIns="0" rIns="0" bIns="0" rtlCol="0" anchor="ctr"/>
          <a:lstStyle/>
          <a:p>
            <a:pPr marL="0" indent="0">
              <a:buNone/>
            </a:pPr>
            <a:r>
              <a:rPr lang="en-US" sz="2800" b="1" dirty="0" err="1" smtClean="0">
                <a:solidFill>
                  <a:schemeClr val="accent4">
                    <a:lumMod val="60000"/>
                    <a:lumOff val="40000"/>
                  </a:schemeClr>
                </a:solidFill>
                <a:latin typeface="Times New Roman" pitchFamily="18" charset="0"/>
                <a:ea typeface="Calibri" pitchFamily="34" charset="-122"/>
                <a:cs typeface="Times New Roman" pitchFamily="18" charset="0"/>
              </a:rPr>
              <a:t>Ashi</a:t>
            </a:r>
            <a:r>
              <a:rPr lang="en-US" sz="2800" b="1" dirty="0" smtClean="0">
                <a:solidFill>
                  <a:schemeClr val="accent4">
                    <a:lumMod val="60000"/>
                    <a:lumOff val="40000"/>
                  </a:schemeClr>
                </a:solidFill>
                <a:latin typeface="Times New Roman" pitchFamily="18" charset="0"/>
                <a:ea typeface="Calibri" pitchFamily="34" charset="-122"/>
                <a:cs typeface="Times New Roman" pitchFamily="18" charset="0"/>
              </a:rPr>
              <a:t> S.S </a:t>
            </a:r>
            <a:r>
              <a:rPr lang="en-US" sz="2800" b="1" dirty="0">
                <a:solidFill>
                  <a:schemeClr val="accent4">
                    <a:lumMod val="60000"/>
                    <a:lumOff val="40000"/>
                  </a:schemeClr>
                </a:solidFill>
                <a:latin typeface="Times New Roman" pitchFamily="18" charset="0"/>
                <a:ea typeface="Calibri" pitchFamily="34" charset="-122"/>
                <a:cs typeface="Times New Roman" pitchFamily="18" charset="0"/>
              </a:rPr>
              <a:t>Baldie</a:t>
            </a:r>
            <a:endParaRPr lang="en-US" sz="2800" dirty="0">
              <a:solidFill>
                <a:schemeClr val="accent4">
                  <a:lumMod val="60000"/>
                  <a:lumOff val="40000"/>
                </a:schemeClr>
              </a:solidFill>
              <a:latin typeface="Times New Roman" pitchFamily="18" charset="0"/>
              <a:cs typeface="Times New Roman" pitchFamily="18" charset="0"/>
            </a:endParaRPr>
          </a:p>
        </p:txBody>
      </p:sp>
      <p:sp>
        <p:nvSpPr>
          <p:cNvPr id="7" name="Text 4"/>
          <p:cNvSpPr/>
          <p:nvPr/>
        </p:nvSpPr>
        <p:spPr>
          <a:xfrm>
            <a:off x="274320" y="2578608"/>
            <a:ext cx="3108960" cy="640080"/>
          </a:xfrm>
          <a:prstGeom prst="rect">
            <a:avLst/>
          </a:prstGeom>
          <a:noFill/>
          <a:ln/>
        </p:spPr>
        <p:txBody>
          <a:bodyPr wrap="square" lIns="0" tIns="0" rIns="0" bIns="0" rtlCol="0" anchor="ctr"/>
          <a:lstStyle/>
          <a:p>
            <a:pPr marL="0" indent="0">
              <a:buNone/>
            </a:pPr>
            <a:endParaRPr lang="en-US" sz="1200" dirty="0"/>
          </a:p>
        </p:txBody>
      </p:sp>
      <p:sp>
        <p:nvSpPr>
          <p:cNvPr id="10" name="Text 6"/>
          <p:cNvSpPr/>
          <p:nvPr/>
        </p:nvSpPr>
        <p:spPr>
          <a:xfrm>
            <a:off x="4617720" y="621792"/>
            <a:ext cx="1097280" cy="237744"/>
          </a:xfrm>
          <a:prstGeom prst="rect">
            <a:avLst/>
          </a:prstGeom>
          <a:noFill/>
          <a:ln/>
        </p:spPr>
        <p:txBody>
          <a:bodyPr wrap="square" lIns="0" tIns="0" rIns="0" bIns="0" rtlCol="0" anchor="ctr"/>
          <a:lstStyle/>
          <a:p>
            <a:pPr marL="0" indent="0">
              <a:buNone/>
            </a:pPr>
            <a:endParaRPr lang="en-US" sz="900" dirty="0"/>
          </a:p>
        </p:txBody>
      </p:sp>
      <p:sp>
        <p:nvSpPr>
          <p:cNvPr id="11" name="Text 7"/>
          <p:cNvSpPr/>
          <p:nvPr/>
        </p:nvSpPr>
        <p:spPr>
          <a:xfrm>
            <a:off x="4617720" y="859536"/>
            <a:ext cx="3931920" cy="237744"/>
          </a:xfrm>
          <a:prstGeom prst="rect">
            <a:avLst/>
          </a:prstGeom>
          <a:noFill/>
          <a:ln/>
        </p:spPr>
        <p:txBody>
          <a:bodyPr wrap="square" lIns="0" tIns="0" rIns="0" bIns="0" rtlCol="0" anchor="ctr"/>
          <a:lstStyle/>
          <a:p>
            <a:pPr marL="0" indent="0">
              <a:buNone/>
            </a:pPr>
            <a:endParaRPr lang="en-US" sz="1100" dirty="0"/>
          </a:p>
        </p:txBody>
      </p:sp>
      <p:sp>
        <p:nvSpPr>
          <p:cNvPr id="12" name="Shape 8"/>
          <p:cNvSpPr/>
          <p:nvPr/>
        </p:nvSpPr>
        <p:spPr>
          <a:xfrm>
            <a:off x="4023360" y="1353312"/>
            <a:ext cx="4754880" cy="621792"/>
          </a:xfrm>
          <a:prstGeom prst="rect">
            <a:avLst/>
          </a:prstGeom>
          <a:solidFill>
            <a:srgbClr val="FFF0F5"/>
          </a:solidFill>
          <a:ln w="12700">
            <a:solidFill>
              <a:srgbClr val="FCE4EC"/>
            </a:solidFill>
            <a:prstDash val="solid"/>
          </a:ln>
          <a:effectLst>
            <a:outerShdw blurRad="76200" dist="25400" dir="8100000" algn="bl" rotWithShape="0">
              <a:srgbClr val="000000">
                <a:alpha val="8000"/>
              </a:srgbClr>
            </a:outerShdw>
          </a:effectLst>
        </p:spPr>
      </p:sp>
      <p:pic>
        <p:nvPicPr>
          <p:cNvPr id="13" name="Image 2" descr="preencoded.png"/>
          <p:cNvPicPr>
            <a:picLocks noChangeAspect="1"/>
          </p:cNvPicPr>
          <p:nvPr/>
        </p:nvPicPr>
        <p:blipFill>
          <a:blip r:embed="rId4"/>
          <a:stretch>
            <a:fillRect/>
          </a:stretch>
        </p:blipFill>
        <p:spPr>
          <a:xfrm>
            <a:off x="4206240" y="1517904"/>
            <a:ext cx="274320" cy="274320"/>
          </a:xfrm>
          <a:prstGeom prst="rect">
            <a:avLst/>
          </a:prstGeom>
        </p:spPr>
      </p:pic>
      <p:sp>
        <p:nvSpPr>
          <p:cNvPr id="14" name="Text 9"/>
          <p:cNvSpPr/>
          <p:nvPr/>
        </p:nvSpPr>
        <p:spPr>
          <a:xfrm>
            <a:off x="4617720" y="1426464"/>
            <a:ext cx="1097280" cy="237744"/>
          </a:xfrm>
          <a:prstGeom prst="rect">
            <a:avLst/>
          </a:prstGeom>
          <a:noFill/>
          <a:ln/>
        </p:spPr>
        <p:txBody>
          <a:bodyPr wrap="square" lIns="0" tIns="0" rIns="0" bIns="0" rtlCol="0" anchor="ctr"/>
          <a:lstStyle/>
          <a:p>
            <a:pPr marL="0" indent="0">
              <a:buNone/>
            </a:pPr>
            <a:r>
              <a:rPr lang="en-US" sz="900" b="1" dirty="0">
                <a:solidFill>
                  <a:srgbClr val="C2185B"/>
                </a:solidFill>
                <a:latin typeface="Times New Roman" pitchFamily="18" charset="0"/>
                <a:ea typeface="Calibri" pitchFamily="34" charset="-122"/>
                <a:cs typeface="Times New Roman" pitchFamily="18" charset="0"/>
              </a:rPr>
              <a:t>Degree</a:t>
            </a:r>
            <a:endParaRPr lang="en-US" sz="900" dirty="0">
              <a:latin typeface="Times New Roman" pitchFamily="18" charset="0"/>
              <a:cs typeface="Times New Roman" pitchFamily="18" charset="0"/>
            </a:endParaRPr>
          </a:p>
        </p:txBody>
      </p:sp>
      <p:sp>
        <p:nvSpPr>
          <p:cNvPr id="15" name="Text 10"/>
          <p:cNvSpPr/>
          <p:nvPr/>
        </p:nvSpPr>
        <p:spPr>
          <a:xfrm>
            <a:off x="4617720" y="1664208"/>
            <a:ext cx="3931920" cy="237744"/>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BSc Medical Physics, UWI (in progress)</a:t>
            </a:r>
            <a:endParaRPr lang="en-US" sz="1100" dirty="0">
              <a:latin typeface="Times New Roman" pitchFamily="18" charset="0"/>
              <a:cs typeface="Times New Roman" pitchFamily="18" charset="0"/>
            </a:endParaRPr>
          </a:p>
        </p:txBody>
      </p:sp>
      <p:sp>
        <p:nvSpPr>
          <p:cNvPr id="16" name="Shape 11"/>
          <p:cNvSpPr/>
          <p:nvPr/>
        </p:nvSpPr>
        <p:spPr>
          <a:xfrm>
            <a:off x="4023360" y="2157984"/>
            <a:ext cx="4754880" cy="621792"/>
          </a:xfrm>
          <a:prstGeom prst="rect">
            <a:avLst/>
          </a:prstGeom>
          <a:solidFill>
            <a:srgbClr val="FFF0F5"/>
          </a:solidFill>
          <a:ln w="12700">
            <a:solidFill>
              <a:srgbClr val="FCE4EC"/>
            </a:solidFill>
            <a:prstDash val="solid"/>
          </a:ln>
          <a:effectLst>
            <a:outerShdw blurRad="76200" dist="25400" dir="8100000" algn="bl" rotWithShape="0">
              <a:srgbClr val="000000">
                <a:alpha val="8000"/>
              </a:srgbClr>
            </a:outerShdw>
          </a:effectLst>
        </p:spPr>
      </p:sp>
      <p:pic>
        <p:nvPicPr>
          <p:cNvPr id="17" name="Image 3" descr="preencoded.png"/>
          <p:cNvPicPr>
            <a:picLocks noChangeAspect="1"/>
          </p:cNvPicPr>
          <p:nvPr/>
        </p:nvPicPr>
        <p:blipFill>
          <a:blip r:embed="rId5"/>
          <a:stretch>
            <a:fillRect/>
          </a:stretch>
        </p:blipFill>
        <p:spPr>
          <a:xfrm>
            <a:off x="4206240" y="2322576"/>
            <a:ext cx="274320" cy="274320"/>
          </a:xfrm>
          <a:prstGeom prst="rect">
            <a:avLst/>
          </a:prstGeom>
        </p:spPr>
      </p:pic>
      <p:sp>
        <p:nvSpPr>
          <p:cNvPr id="18" name="Text 12"/>
          <p:cNvSpPr/>
          <p:nvPr/>
        </p:nvSpPr>
        <p:spPr>
          <a:xfrm>
            <a:off x="4617720" y="2231136"/>
            <a:ext cx="1097280" cy="237744"/>
          </a:xfrm>
          <a:prstGeom prst="rect">
            <a:avLst/>
          </a:prstGeom>
          <a:noFill/>
          <a:ln/>
        </p:spPr>
        <p:txBody>
          <a:bodyPr wrap="square" lIns="0" tIns="0" rIns="0" bIns="0" rtlCol="0" anchor="ctr"/>
          <a:lstStyle/>
          <a:p>
            <a:pPr marL="0" indent="0">
              <a:buNone/>
            </a:pPr>
            <a:r>
              <a:rPr lang="en-US" sz="900" b="1" dirty="0">
                <a:solidFill>
                  <a:srgbClr val="C2185B"/>
                </a:solidFill>
                <a:latin typeface="Times New Roman" pitchFamily="18" charset="0"/>
                <a:ea typeface="Calibri" pitchFamily="34" charset="-122"/>
                <a:cs typeface="Times New Roman" pitchFamily="18" charset="0"/>
              </a:rPr>
              <a:t>Programme</a:t>
            </a:r>
            <a:endParaRPr lang="en-US" sz="900" dirty="0">
              <a:latin typeface="Times New Roman" pitchFamily="18" charset="0"/>
              <a:cs typeface="Times New Roman" pitchFamily="18" charset="0"/>
            </a:endParaRPr>
          </a:p>
        </p:txBody>
      </p:sp>
      <p:sp>
        <p:nvSpPr>
          <p:cNvPr id="19" name="Text 13"/>
          <p:cNvSpPr/>
          <p:nvPr/>
        </p:nvSpPr>
        <p:spPr>
          <a:xfrm>
            <a:off x="4617720" y="2468880"/>
            <a:ext cx="3931920" cy="237744"/>
          </a:xfrm>
          <a:prstGeom prst="rect">
            <a:avLst/>
          </a:prstGeom>
          <a:noFill/>
          <a:ln/>
        </p:spPr>
        <p:txBody>
          <a:bodyPr wrap="square" lIns="0" tIns="0" rIns="0" bIns="0" rtlCol="0" anchor="ctr"/>
          <a:lstStyle/>
          <a:p>
            <a:pPr marL="0" indent="0">
              <a:buNone/>
            </a:pPr>
            <a:r>
              <a:rPr lang="en-US" sz="1100" dirty="0">
                <a:solidFill>
                  <a:srgbClr val="212121"/>
                </a:solidFill>
                <a:latin typeface="Times New Roman" pitchFamily="18" charset="0"/>
                <a:ea typeface="Calibri" pitchFamily="34" charset="-122"/>
                <a:cs typeface="Times New Roman" pitchFamily="18" charset="0"/>
              </a:rPr>
              <a:t>CariSurg MedTech Pathways 2026</a:t>
            </a:r>
            <a:endParaRPr lang="en-US" sz="1100" dirty="0">
              <a:latin typeface="Times New Roman" pitchFamily="18" charset="0"/>
              <a:cs typeface="Times New Roman" pitchFamily="18" charset="0"/>
            </a:endParaRPr>
          </a:p>
        </p:txBody>
      </p:sp>
      <p:sp>
        <p:nvSpPr>
          <p:cNvPr id="20" name="Shape 14"/>
          <p:cNvSpPr/>
          <p:nvPr/>
        </p:nvSpPr>
        <p:spPr>
          <a:xfrm>
            <a:off x="4023360" y="2962656"/>
            <a:ext cx="4754880" cy="621792"/>
          </a:xfrm>
          <a:prstGeom prst="rect">
            <a:avLst/>
          </a:prstGeom>
          <a:solidFill>
            <a:srgbClr val="FFF0F5"/>
          </a:solidFill>
          <a:ln w="12700">
            <a:solidFill>
              <a:srgbClr val="FCE4EC"/>
            </a:solidFill>
            <a:prstDash val="solid"/>
          </a:ln>
          <a:effectLst>
            <a:outerShdw blurRad="76200" dist="25400" dir="8100000" algn="bl" rotWithShape="0">
              <a:srgbClr val="000000">
                <a:alpha val="8000"/>
              </a:srgbClr>
            </a:outerShdw>
          </a:effectLst>
        </p:spPr>
      </p:sp>
      <p:pic>
        <p:nvPicPr>
          <p:cNvPr id="21" name="Image 4" descr="preencoded.png"/>
          <p:cNvPicPr>
            <a:picLocks noChangeAspect="1"/>
          </p:cNvPicPr>
          <p:nvPr/>
        </p:nvPicPr>
        <p:blipFill>
          <a:blip r:embed="rId6"/>
          <a:stretch>
            <a:fillRect/>
          </a:stretch>
        </p:blipFill>
        <p:spPr>
          <a:xfrm>
            <a:off x="4206240" y="3127248"/>
            <a:ext cx="274320" cy="274320"/>
          </a:xfrm>
          <a:prstGeom prst="rect">
            <a:avLst/>
          </a:prstGeom>
        </p:spPr>
      </p:pic>
      <p:sp>
        <p:nvSpPr>
          <p:cNvPr id="22" name="Text 15"/>
          <p:cNvSpPr/>
          <p:nvPr/>
        </p:nvSpPr>
        <p:spPr>
          <a:xfrm>
            <a:off x="4617720" y="3035808"/>
            <a:ext cx="1097280" cy="237744"/>
          </a:xfrm>
          <a:prstGeom prst="rect">
            <a:avLst/>
          </a:prstGeom>
          <a:noFill/>
          <a:ln/>
        </p:spPr>
        <p:txBody>
          <a:bodyPr wrap="square" lIns="0" tIns="0" rIns="0" bIns="0" rtlCol="0" anchor="ctr"/>
          <a:lstStyle/>
          <a:p>
            <a:pPr marL="0" indent="0">
              <a:buNone/>
            </a:pPr>
            <a:r>
              <a:rPr lang="en-US" sz="900" b="1" dirty="0">
                <a:solidFill>
                  <a:srgbClr val="C2185B"/>
                </a:solidFill>
                <a:latin typeface="Times New Roman" pitchFamily="18" charset="0"/>
                <a:ea typeface="Calibri" pitchFamily="34" charset="-122"/>
                <a:cs typeface="Times New Roman" pitchFamily="18" charset="0"/>
              </a:rPr>
              <a:t>Portfolio</a:t>
            </a:r>
            <a:endParaRPr lang="en-US" sz="900" dirty="0">
              <a:latin typeface="Times New Roman" pitchFamily="18" charset="0"/>
              <a:cs typeface="Times New Roman" pitchFamily="18" charset="0"/>
            </a:endParaRPr>
          </a:p>
        </p:txBody>
      </p:sp>
      <p:sp>
        <p:nvSpPr>
          <p:cNvPr id="23" name="Text 16"/>
          <p:cNvSpPr/>
          <p:nvPr/>
        </p:nvSpPr>
        <p:spPr>
          <a:xfrm>
            <a:off x="4617720" y="3273552"/>
            <a:ext cx="3931920" cy="237744"/>
          </a:xfrm>
          <a:prstGeom prst="rect">
            <a:avLst/>
          </a:prstGeom>
          <a:noFill/>
          <a:ln/>
        </p:spPr>
        <p:txBody>
          <a:bodyPr wrap="square" lIns="0" tIns="0" rIns="0" bIns="0" rtlCol="0" anchor="ctr"/>
          <a:lstStyle/>
          <a:p>
            <a:r>
              <a:rPr lang="en-US" sz="1100" dirty="0">
                <a:solidFill>
                  <a:srgbClr val="212121"/>
                </a:solidFill>
                <a:latin typeface="Times New Roman" pitchFamily="18" charset="0"/>
                <a:ea typeface="Calibri" pitchFamily="34" charset="-122"/>
                <a:cs typeface="Times New Roman" pitchFamily="18" charset="0"/>
              </a:rPr>
              <a:t>https://github.com/baldiea75-tech/carisurg-portfolio.git</a:t>
            </a:r>
            <a:endParaRPr lang="en-US" sz="1100" dirty="0">
              <a:latin typeface="Times New Roman" pitchFamily="18" charset="0"/>
              <a:cs typeface="Times New Roman" pitchFamily="18" charset="0"/>
            </a:endParaRPr>
          </a:p>
        </p:txBody>
      </p:sp>
      <p:sp>
        <p:nvSpPr>
          <p:cNvPr id="24" name="Shape 17"/>
          <p:cNvSpPr/>
          <p:nvPr/>
        </p:nvSpPr>
        <p:spPr>
          <a:xfrm>
            <a:off x="4023360" y="3767328"/>
            <a:ext cx="4754880" cy="621792"/>
          </a:xfrm>
          <a:prstGeom prst="rect">
            <a:avLst/>
          </a:prstGeom>
          <a:solidFill>
            <a:srgbClr val="FFF0F5"/>
          </a:solidFill>
          <a:ln w="12700">
            <a:solidFill>
              <a:srgbClr val="FCE4EC"/>
            </a:solidFill>
            <a:prstDash val="solid"/>
          </a:ln>
          <a:effectLst>
            <a:outerShdw blurRad="76200" dist="25400" dir="8100000" algn="bl" rotWithShape="0">
              <a:srgbClr val="000000">
                <a:alpha val="8000"/>
              </a:srgbClr>
            </a:outerShdw>
          </a:effectLst>
        </p:spPr>
      </p:sp>
      <p:pic>
        <p:nvPicPr>
          <p:cNvPr id="25" name="Image 5" descr="preencoded.png"/>
          <p:cNvPicPr>
            <a:picLocks noChangeAspect="1"/>
          </p:cNvPicPr>
          <p:nvPr/>
        </p:nvPicPr>
        <p:blipFill>
          <a:blip r:embed="rId7"/>
          <a:stretch>
            <a:fillRect/>
          </a:stretch>
        </p:blipFill>
        <p:spPr>
          <a:xfrm>
            <a:off x="4206240" y="3931920"/>
            <a:ext cx="274320" cy="274320"/>
          </a:xfrm>
          <a:prstGeom prst="rect">
            <a:avLst/>
          </a:prstGeom>
        </p:spPr>
      </p:pic>
      <p:sp>
        <p:nvSpPr>
          <p:cNvPr id="26" name="Text 18"/>
          <p:cNvSpPr/>
          <p:nvPr/>
        </p:nvSpPr>
        <p:spPr>
          <a:xfrm>
            <a:off x="4617720" y="3840480"/>
            <a:ext cx="1097280" cy="237744"/>
          </a:xfrm>
          <a:prstGeom prst="rect">
            <a:avLst/>
          </a:prstGeom>
          <a:noFill/>
          <a:ln/>
        </p:spPr>
        <p:txBody>
          <a:bodyPr wrap="square" lIns="0" tIns="0" rIns="0" bIns="0" rtlCol="0" anchor="ctr"/>
          <a:lstStyle/>
          <a:p>
            <a:pPr marL="0" indent="0">
              <a:buNone/>
            </a:pPr>
            <a:r>
              <a:rPr lang="en-US" sz="900" b="1" dirty="0">
                <a:solidFill>
                  <a:srgbClr val="C2185B"/>
                </a:solidFill>
                <a:latin typeface="Times New Roman" pitchFamily="18" charset="0"/>
                <a:ea typeface="Calibri" pitchFamily="34" charset="-122"/>
                <a:cs typeface="Times New Roman" pitchFamily="18" charset="0"/>
              </a:rPr>
              <a:t>Email</a:t>
            </a:r>
            <a:endParaRPr lang="en-US" sz="900" dirty="0">
              <a:latin typeface="Times New Roman" pitchFamily="18" charset="0"/>
              <a:cs typeface="Times New Roman" pitchFamily="18" charset="0"/>
            </a:endParaRPr>
          </a:p>
        </p:txBody>
      </p:sp>
      <p:sp>
        <p:nvSpPr>
          <p:cNvPr id="27" name="Text 19"/>
          <p:cNvSpPr/>
          <p:nvPr/>
        </p:nvSpPr>
        <p:spPr>
          <a:xfrm>
            <a:off x="4617720" y="4078224"/>
            <a:ext cx="3931920" cy="237744"/>
          </a:xfrm>
          <a:prstGeom prst="rect">
            <a:avLst/>
          </a:prstGeom>
          <a:noFill/>
          <a:ln/>
        </p:spPr>
        <p:txBody>
          <a:bodyPr wrap="square" lIns="0" tIns="0" rIns="0" bIns="0" rtlCol="0" anchor="ctr"/>
          <a:lstStyle/>
          <a:p>
            <a:pPr marL="0" indent="0">
              <a:buNone/>
            </a:pPr>
            <a:r>
              <a:rPr lang="en-US" sz="1100" dirty="0" smtClean="0">
                <a:solidFill>
                  <a:srgbClr val="212121"/>
                </a:solidFill>
                <a:latin typeface="Times New Roman" pitchFamily="18" charset="0"/>
                <a:ea typeface="Calibri" pitchFamily="34" charset="-122"/>
                <a:cs typeface="Times New Roman" pitchFamily="18" charset="0"/>
              </a:rPr>
              <a:t>baldiea75@gmail.com</a:t>
            </a:r>
            <a:endParaRPr lang="en-US" sz="11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896</Words>
  <Application>Microsoft Office PowerPoint</Application>
  <PresentationFormat>On-screen Show (16:9)</PresentationFormat>
  <Paragraphs>118</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Ashi Baldie Career Profile</dc:title>
  <dc:subject>PptxGenJS Presentation</dc:subject>
  <dc:creator>Ashi Baldie</dc:creator>
  <cp:lastModifiedBy>Shenee Lamont</cp:lastModifiedBy>
  <cp:revision>7</cp:revision>
  <dcterms:created xsi:type="dcterms:W3CDTF">2026-05-27T03:30:58Z</dcterms:created>
  <dcterms:modified xsi:type="dcterms:W3CDTF">2026-05-27T04:29:41Z</dcterms:modified>
</cp:coreProperties>
</file>